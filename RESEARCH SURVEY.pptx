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94660"/>
  </p:normalViewPr>
  <p:slideViewPr>
    <p:cSldViewPr snapToGrid="0">
      <p:cViewPr varScale="1">
        <p:scale>
          <a:sx n="72" d="100"/>
          <a:sy n="72" d="100"/>
        </p:scale>
        <p:origin x="64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Emmanuel" userId="4962a4b82c3f5034" providerId="LiveId" clId="{4898479E-CB66-4959-A0E5-1B89B9BD0CFD}"/>
    <pc:docChg chg="delSld">
      <pc:chgData name="samuel Emmanuel" userId="4962a4b82c3f5034" providerId="LiveId" clId="{4898479E-CB66-4959-A0E5-1B89B9BD0CFD}" dt="2026-03-21T15:34:53.882" v="0" actId="2696"/>
      <pc:docMkLst>
        <pc:docMk/>
      </pc:docMkLst>
      <pc:sldChg chg="del">
        <pc:chgData name="samuel Emmanuel" userId="4962a4b82c3f5034" providerId="LiveId" clId="{4898479E-CB66-4959-A0E5-1B89B9BD0CFD}" dt="2026-03-21T15:34:53.882" v="0" actId="2696"/>
        <pc:sldMkLst>
          <pc:docMk/>
          <pc:sldMk cId="3741770728" sldId="282"/>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048152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826323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160902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789183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27859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330805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8141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77620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54156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5750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67238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363867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2845146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1438736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B02A8D-2401-47FC-8AF6-D3E89A697B15}" type="datetimeFigureOut">
              <a:rPr lang="en-GB" smtClean="0"/>
              <a:t>21/03/2026</a:t>
            </a:fld>
            <a:endParaRPr lang="en-GB" dirty="0"/>
          </a:p>
        </p:txBody>
      </p:sp>
      <p:sp>
        <p:nvSpPr>
          <p:cNvPr id="8" name="Footer Placeholder 7"/>
          <p:cNvSpPr>
            <a:spLocks noGrp="1"/>
          </p:cNvSpPr>
          <p:nvPr>
            <p:ph type="ftr" sz="quarter" idx="11"/>
          </p:nvPr>
        </p:nvSpPr>
        <p:spPr>
          <a:xfrm>
            <a:off x="561111" y="6391838"/>
            <a:ext cx="3644282" cy="304801"/>
          </a:xfrm>
        </p:spPr>
        <p:txBody>
          <a:bodyPr/>
          <a:lstStyle/>
          <a:p>
            <a:endParaRPr lang="en-GB" dirty="0"/>
          </a:p>
        </p:txBody>
      </p:sp>
      <p:sp>
        <p:nvSpPr>
          <p:cNvPr id="9" name="Slide Number Placeholder 8"/>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630581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371689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9B02A8D-2401-47FC-8AF6-D3E89A697B15}" type="datetimeFigureOut">
              <a:rPr lang="en-GB" smtClean="0"/>
              <a:t>21/03/2026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7E2C2B-7B48-43EF-80D9-3A1A2EECFC8F}" type="slidenum">
              <a:rPr lang="en-GB" smtClean="0"/>
              <a:t>‹#›</a:t>
            </a:fld>
            <a:endParaRPr lang="en-GB" dirty="0"/>
          </a:p>
        </p:txBody>
      </p:sp>
    </p:spTree>
    <p:extLst>
      <p:ext uri="{BB962C8B-B14F-4D97-AF65-F5344CB8AC3E}">
        <p14:creationId xmlns:p14="http://schemas.microsoft.com/office/powerpoint/2010/main" val="20205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9B02A8D-2401-47FC-8AF6-D3E89A697B15}" type="datetimeFigureOut">
              <a:rPr lang="en-GB" smtClean="0"/>
              <a:t>21/03/2026</a:t>
            </a:fld>
            <a:endParaRPr lang="en-GB"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D7E2C2B-7B48-43EF-80D9-3A1A2EECFC8F}" type="slidenum">
              <a:rPr lang="en-GB" smtClean="0"/>
              <a:t>‹#›</a:t>
            </a:fld>
            <a:endParaRPr lang="en-GB" dirty="0"/>
          </a:p>
        </p:txBody>
      </p:sp>
    </p:spTree>
    <p:extLst>
      <p:ext uri="{BB962C8B-B14F-4D97-AF65-F5344CB8AC3E}">
        <p14:creationId xmlns:p14="http://schemas.microsoft.com/office/powerpoint/2010/main" val="523733298"/>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CBE3-7BC4-4EBE-8528-61D103D84C52}"/>
              </a:ext>
            </a:extLst>
          </p:cNvPr>
          <p:cNvSpPr>
            <a:spLocks noGrp="1"/>
          </p:cNvSpPr>
          <p:nvPr>
            <p:ph type="ctrTitle"/>
          </p:nvPr>
        </p:nvSpPr>
        <p:spPr>
          <a:xfrm>
            <a:off x="1169933" y="2099732"/>
            <a:ext cx="8825658" cy="2677648"/>
          </a:xfrm>
        </p:spPr>
        <p:txBody>
          <a:bodyPr/>
          <a:lstStyle/>
          <a:p>
            <a:r>
              <a:rPr lang="en-US" dirty="0">
                <a:latin typeface="Copperplate Gothic Bold" panose="020E0705020206020404" pitchFamily="34" charset="0"/>
              </a:rPr>
              <a:t>RESEARCH SURVEY</a:t>
            </a:r>
            <a:endParaRPr lang="en-GB" dirty="0">
              <a:latin typeface="Copperplate Gothic Bold" panose="020E0705020206020404" pitchFamily="34" charset="0"/>
            </a:endParaRPr>
          </a:p>
        </p:txBody>
      </p:sp>
      <p:sp>
        <p:nvSpPr>
          <p:cNvPr id="3" name="Subtitle 2">
            <a:extLst>
              <a:ext uri="{FF2B5EF4-FFF2-40B4-BE49-F238E27FC236}">
                <a16:creationId xmlns:a16="http://schemas.microsoft.com/office/drawing/2014/main" id="{52D1EA1A-69E1-4F5E-B209-81DB3AE00EBC}"/>
              </a:ext>
            </a:extLst>
          </p:cNvPr>
          <p:cNvSpPr>
            <a:spLocks noGrp="1"/>
          </p:cNvSpPr>
          <p:nvPr>
            <p:ph type="subTitle" idx="1"/>
          </p:nvPr>
        </p:nvSpPr>
        <p:spPr/>
        <p:txBody>
          <a:bodyPr>
            <a:normAutofit/>
          </a:bodyPr>
          <a:lstStyle/>
          <a:p>
            <a:r>
              <a:rPr lang="en-US" sz="2000" dirty="0">
                <a:latin typeface="Lucida Fax" panose="02060602050505020204" pitchFamily="18" charset="0"/>
              </a:rPr>
              <a:t>JEWELRY BOUTIQUE IN WUSE 2, ABUJA</a:t>
            </a:r>
            <a:endParaRPr lang="en-GB" sz="2000" dirty="0">
              <a:latin typeface="Lucida Fax" panose="02060602050505020204" pitchFamily="18" charset="0"/>
            </a:endParaRPr>
          </a:p>
        </p:txBody>
      </p:sp>
      <p:pic>
        <p:nvPicPr>
          <p:cNvPr id="5" name="Picture 4">
            <a:extLst>
              <a:ext uri="{FF2B5EF4-FFF2-40B4-BE49-F238E27FC236}">
                <a16:creationId xmlns:a16="http://schemas.microsoft.com/office/drawing/2014/main" id="{7BEEFA58-C515-42BF-A7E4-C79ACDCBA83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46344" y="1238314"/>
            <a:ext cx="7510670" cy="3088464"/>
          </a:xfrm>
          <a:prstGeom prst="rect">
            <a:avLst/>
          </a:prstGeom>
        </p:spPr>
      </p:pic>
    </p:spTree>
    <p:extLst>
      <p:ext uri="{BB962C8B-B14F-4D97-AF65-F5344CB8AC3E}">
        <p14:creationId xmlns:p14="http://schemas.microsoft.com/office/powerpoint/2010/main" val="3058534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76D7-2491-4819-9107-CF68C8CFD711}"/>
              </a:ext>
            </a:extLst>
          </p:cNvPr>
          <p:cNvSpPr>
            <a:spLocks noGrp="1"/>
          </p:cNvSpPr>
          <p:nvPr>
            <p:ph type="title"/>
          </p:nvPr>
        </p:nvSpPr>
        <p:spPr/>
        <p:txBody>
          <a:bodyPr/>
          <a:lstStyle/>
          <a:p>
            <a:br>
              <a:rPr lang="en-GB" sz="1800" kern="100" dirty="0">
                <a:effectLst/>
                <a:latin typeface="Calibri" panose="020F0502020204030204" pitchFamily="34" charset="0"/>
                <a:ea typeface="Calibri" panose="020F0502020204030204" pitchFamily="34" charset="0"/>
                <a:cs typeface="Times New Roman" panose="02020603050405020304" pitchFamily="18" charset="0"/>
              </a:rPr>
            </a:br>
            <a:r>
              <a:rPr lang="en-GB" kern="100" dirty="0">
                <a:latin typeface="Copperplate Gothic Bold" panose="020E0705020206020404" pitchFamily="34" charset="0"/>
                <a:ea typeface="Calibri" panose="020F0502020204030204" pitchFamily="34" charset="0"/>
                <a:cs typeface="Times New Roman" panose="02020603050405020304" pitchFamily="18" charset="0"/>
              </a:rPr>
              <a:t>Research Objective</a:t>
            </a:r>
            <a:endParaRPr lang="en-GB" dirty="0">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736D7AD5-1058-44FC-8D15-72BCB46CE77E}"/>
              </a:ext>
            </a:extLst>
          </p:cNvPr>
          <p:cNvSpPr>
            <a:spLocks noGrp="1"/>
          </p:cNvSpPr>
          <p:nvPr>
            <p:ph idx="1"/>
          </p:nvPr>
        </p:nvSpPr>
        <p:spPr>
          <a:xfrm>
            <a:off x="1154954" y="2560319"/>
            <a:ext cx="9472246" cy="3713872"/>
          </a:xfrm>
        </p:spPr>
        <p:txBody>
          <a:bodyPr>
            <a:normAutofit fontScale="55000" lnSpcReduction="20000"/>
          </a:bodyPr>
          <a:lstStyle/>
          <a:p>
            <a:pPr marL="400050" lvl="1" indent="0">
              <a:lnSpc>
                <a:spcPct val="200000"/>
              </a:lnSpc>
              <a:buNone/>
            </a:pPr>
            <a:endParaRPr lang="en-US" dirty="0">
              <a:latin typeface="Lucida Fax" panose="02060602050505020204" pitchFamily="18" charset="0"/>
            </a:endParaRP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Market Demand: Determine if there is need of a </a:t>
            </a:r>
            <a:r>
              <a:rPr lang="en-GB" sz="2700" kern="100" dirty="0" err="1">
                <a:latin typeface="Bookman Old Style" panose="02050604050505020204" pitchFamily="18" charset="0"/>
                <a:ea typeface="Calibri" panose="020F0502020204030204" pitchFamily="34" charset="0"/>
                <a:cs typeface="Times New Roman" panose="02020603050405020304" pitchFamily="18" charset="0"/>
              </a:rPr>
              <a:t>j</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ewelry</a:t>
            </a: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 boutique in </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wuse</a:t>
            </a:r>
            <a:r>
              <a:rPr lang="en-GB" sz="2700" kern="100" dirty="0">
                <a:latin typeface="Bookman Old Style" panose="02050604050505020204" pitchFamily="18" charset="0"/>
                <a:ea typeface="Calibri" panose="020F0502020204030204" pitchFamily="34" charset="0"/>
                <a:cs typeface="Times New Roman" panose="02020603050405020304" pitchFamily="18" charset="0"/>
              </a:rPr>
              <a:t>.</a:t>
            </a:r>
            <a:endParaRPr lang="en-GB" sz="27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lvl="2">
              <a:lnSpc>
                <a:spcPct val="320000"/>
              </a:lnSpc>
            </a:pPr>
            <a:r>
              <a:rPr lang="en-GB" sz="2700" dirty="0">
                <a:latin typeface="Bookman Old Style" panose="02050604050505020204" pitchFamily="18" charset="0"/>
                <a:ea typeface="Calibri" panose="020F0502020204030204" pitchFamily="34" charset="0"/>
              </a:rPr>
              <a:t>C</a:t>
            </a:r>
            <a:r>
              <a:rPr lang="en-GB" sz="2700" dirty="0">
                <a:effectLst/>
                <a:latin typeface="Bookman Old Style" panose="02050604050505020204" pitchFamily="18" charset="0"/>
                <a:ea typeface="Calibri" panose="020F0502020204030204" pitchFamily="34" charset="0"/>
              </a:rPr>
              <a:t>onsumer Preference: Identify the type of </a:t>
            </a:r>
            <a:r>
              <a:rPr lang="en-GB" sz="2700" dirty="0" err="1">
                <a:effectLst/>
                <a:latin typeface="Bookman Old Style" panose="02050604050505020204" pitchFamily="18" charset="0"/>
                <a:ea typeface="Calibri" panose="020F0502020204030204" pitchFamily="34" charset="0"/>
              </a:rPr>
              <a:t>jewelry</a:t>
            </a:r>
            <a:r>
              <a:rPr lang="en-GB" sz="2700" dirty="0">
                <a:effectLst/>
                <a:latin typeface="Bookman Old Style" panose="02050604050505020204" pitchFamily="18" charset="0"/>
                <a:ea typeface="Calibri" panose="020F0502020204030204" pitchFamily="34" charset="0"/>
              </a:rPr>
              <a:t> piece people prefer.</a:t>
            </a: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Pricing Strategy: Find out how much customers are willing spend on a </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jewelry</a:t>
            </a: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Business model: Determine if customers prefer order online or visit physical store</a:t>
            </a:r>
            <a:r>
              <a:rPr lang="en-GB" sz="2300"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a:lnSpc>
                <a:spcPct val="320000"/>
              </a:lnSpc>
            </a:pPr>
            <a:endParaRPr lang="en-GB" sz="2500" kern="100" dirty="0">
              <a:effectLst/>
              <a:latin typeface="Bookman Old Style" panose="02050604050505020204" pitchFamily="18" charset="0"/>
              <a:ea typeface="Calibri" panose="020F0502020204030204" pitchFamily="34" charset="0"/>
              <a:cs typeface="Times New Roman" panose="02020603050405020304" pitchFamily="18" charset="0"/>
            </a:endParaRPr>
          </a:p>
          <a:p>
            <a:endParaRPr lang="en-GB" dirty="0">
              <a:latin typeface="Lucida Fax" panose="02060602050505020204" pitchFamily="18" charset="0"/>
            </a:endParaRPr>
          </a:p>
        </p:txBody>
      </p:sp>
      <p:sp>
        <p:nvSpPr>
          <p:cNvPr id="5" name="TextBox 4">
            <a:extLst>
              <a:ext uri="{FF2B5EF4-FFF2-40B4-BE49-F238E27FC236}">
                <a16:creationId xmlns:a16="http://schemas.microsoft.com/office/drawing/2014/main" id="{1D2A7F3A-0FAC-4E49-A7AB-6B5DBACC973F}"/>
              </a:ext>
            </a:extLst>
          </p:cNvPr>
          <p:cNvSpPr txBox="1"/>
          <p:nvPr/>
        </p:nvSpPr>
        <p:spPr>
          <a:xfrm>
            <a:off x="444121" y="2686929"/>
            <a:ext cx="934513" cy="369332"/>
          </a:xfrm>
          <a:prstGeom prst="rect">
            <a:avLst/>
          </a:prstGeom>
          <a:noFill/>
        </p:spPr>
        <p:txBody>
          <a:bodyPr wrap="square" rtlCol="0">
            <a:spAutoFit/>
          </a:bodyPr>
          <a:lstStyle/>
          <a:p>
            <a:r>
              <a:rPr lang="en-US" dirty="0">
                <a:latin typeface="Britannic Bold" panose="020B0903060703020204" pitchFamily="34" charset="0"/>
              </a:rPr>
              <a:t>STEP 1</a:t>
            </a:r>
            <a:endParaRPr lang="en-GB" dirty="0">
              <a:latin typeface="Britannic Bold" panose="020B0903060703020204" pitchFamily="34" charset="0"/>
            </a:endParaRPr>
          </a:p>
        </p:txBody>
      </p:sp>
    </p:spTree>
    <p:extLst>
      <p:ext uri="{BB962C8B-B14F-4D97-AF65-F5344CB8AC3E}">
        <p14:creationId xmlns:p14="http://schemas.microsoft.com/office/powerpoint/2010/main" val="428500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67A2-AAFB-4401-A933-7CC80F421E9E}"/>
              </a:ext>
            </a:extLst>
          </p:cNvPr>
          <p:cNvSpPr>
            <a:spLocks noGrp="1"/>
          </p:cNvSpPr>
          <p:nvPr>
            <p:ph type="title"/>
          </p:nvPr>
        </p:nvSpPr>
        <p:spPr>
          <a:xfrm>
            <a:off x="1056480" y="2784278"/>
            <a:ext cx="4415851" cy="1289444"/>
          </a:xfrm>
        </p:spPr>
        <p:txBody>
          <a:bodyPr/>
          <a:lstStyle/>
          <a:p>
            <a:r>
              <a:rPr lang="en-GB" sz="2800" kern="100" dirty="0">
                <a:effectLst/>
                <a:latin typeface="Copperplate Gothic Bold" panose="020E0705020206020404" pitchFamily="34" charset="0"/>
                <a:ea typeface="Calibri" panose="020F0502020204030204" pitchFamily="34" charset="0"/>
                <a:cs typeface="Times New Roman" panose="02020603050405020304" pitchFamily="18" charset="0"/>
              </a:rPr>
              <a:t>Research Questions</a:t>
            </a:r>
            <a:br>
              <a:rPr lang="en-GB" sz="2800" kern="100" dirty="0">
                <a:effectLst/>
                <a:latin typeface="Calibri" panose="020F0502020204030204" pitchFamily="34" charset="0"/>
                <a:ea typeface="Calibri" panose="020F0502020204030204" pitchFamily="34" charset="0"/>
                <a:cs typeface="Times New Roman" panose="02020603050405020304" pitchFamily="18" charset="0"/>
              </a:rPr>
            </a:br>
            <a:endParaRPr lang="en-GB" sz="2800" dirty="0"/>
          </a:p>
        </p:txBody>
      </p:sp>
      <p:sp>
        <p:nvSpPr>
          <p:cNvPr id="3" name="Text Placeholder 2">
            <a:extLst>
              <a:ext uri="{FF2B5EF4-FFF2-40B4-BE49-F238E27FC236}">
                <a16:creationId xmlns:a16="http://schemas.microsoft.com/office/drawing/2014/main" id="{2237B10C-60FE-4E2D-9EE5-F9851FBA86C9}"/>
              </a:ext>
            </a:extLst>
          </p:cNvPr>
          <p:cNvSpPr>
            <a:spLocks noGrp="1"/>
          </p:cNvSpPr>
          <p:nvPr>
            <p:ph type="body" idx="1"/>
          </p:nvPr>
        </p:nvSpPr>
        <p:spPr>
          <a:xfrm>
            <a:off x="6485206" y="1674056"/>
            <a:ext cx="5439508" cy="4009292"/>
          </a:xfrm>
        </p:spPr>
        <p:txBody>
          <a:bodyPr>
            <a:normAutofit fontScale="92500"/>
          </a:bodyPr>
          <a:lstStyle/>
          <a:p>
            <a:pPr marL="800100" lvl="1" indent="-342900" algn="just">
              <a:lnSpc>
                <a:spcPct val="300000"/>
              </a:lnSpc>
              <a:buFont typeface="+mj-lt"/>
              <a:buAutoNum type="arabicPeriod"/>
            </a:pPr>
            <a:r>
              <a:rPr lang="en-GB" sz="1600" b="1" kern="100" dirty="0">
                <a:latin typeface="Bookman Old Style" panose="02050604050505020204" pitchFamily="18" charset="0"/>
                <a:ea typeface="Calibri" panose="020F0502020204030204" pitchFamily="34" charset="0"/>
                <a:cs typeface="Times New Roman" panose="02020603050405020304" pitchFamily="18" charset="0"/>
              </a:rPr>
              <a:t>Do people need a </a:t>
            </a:r>
            <a:r>
              <a:rPr lang="en-GB" sz="1600" b="1" kern="100" dirty="0" err="1">
                <a:latin typeface="Bookman Old Style" panose="02050604050505020204" pitchFamily="18" charset="0"/>
                <a:ea typeface="Calibri" panose="020F0502020204030204" pitchFamily="34" charset="0"/>
                <a:cs typeface="Times New Roman" panose="02020603050405020304" pitchFamily="18" charset="0"/>
              </a:rPr>
              <a:t>jewelry</a:t>
            </a:r>
            <a:r>
              <a:rPr lang="en-GB" sz="1600" b="1" kern="100" dirty="0">
                <a:latin typeface="Bookman Old Style" panose="02050604050505020204" pitchFamily="18" charset="0"/>
                <a:ea typeface="Calibri" panose="020F0502020204030204" pitchFamily="34" charset="0"/>
                <a:cs typeface="Times New Roman" panose="02020603050405020304" pitchFamily="18" charset="0"/>
              </a:rPr>
              <a:t> boutique in </a:t>
            </a:r>
            <a:r>
              <a:rPr lang="en-GB" sz="1600" b="1" kern="100" dirty="0" err="1">
                <a:latin typeface="Bookman Old Style" panose="02050604050505020204" pitchFamily="18" charset="0"/>
                <a:ea typeface="Calibri" panose="020F0502020204030204" pitchFamily="34" charset="0"/>
                <a:cs typeface="Times New Roman" panose="02020603050405020304" pitchFamily="18" charset="0"/>
              </a:rPr>
              <a:t>wuse</a:t>
            </a:r>
            <a:r>
              <a:rPr lang="en-GB" sz="1600" b="1"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marL="800100" lvl="1" indent="-342900" algn="just">
              <a:lnSpc>
                <a:spcPct val="300000"/>
              </a:lnSpc>
              <a:buFont typeface="+mj-lt"/>
              <a:buAutoNum type="arabicPeriod"/>
            </a:pPr>
            <a:r>
              <a:rPr lang="en-GB" sz="1600" b="1" kern="100" dirty="0">
                <a:effectLst/>
                <a:latin typeface="Bookman Old Style" panose="02050604050505020204" pitchFamily="18" charset="0"/>
                <a:ea typeface="Calibri" panose="020F0502020204030204" pitchFamily="34" charset="0"/>
                <a:cs typeface="Times New Roman" panose="02020603050405020304" pitchFamily="18" charset="0"/>
              </a:rPr>
              <a:t>What </a:t>
            </a:r>
            <a:r>
              <a:rPr lang="en-GB" sz="1600" b="1" kern="100" dirty="0" err="1">
                <a:latin typeface="Bookman Old Style" panose="02050604050505020204" pitchFamily="18" charset="0"/>
                <a:ea typeface="Calibri" panose="020F0502020204030204" pitchFamily="34" charset="0"/>
                <a:cs typeface="Times New Roman" panose="02020603050405020304" pitchFamily="18" charset="0"/>
              </a:rPr>
              <a:t>jewelry</a:t>
            </a:r>
            <a:r>
              <a:rPr lang="en-GB" sz="1600" b="1" kern="100" dirty="0">
                <a:latin typeface="Bookman Old Style" panose="02050604050505020204" pitchFamily="18" charset="0"/>
                <a:ea typeface="Calibri" panose="020F0502020204030204" pitchFamily="34" charset="0"/>
                <a:cs typeface="Times New Roman" panose="02020603050405020304" pitchFamily="18" charset="0"/>
              </a:rPr>
              <a:t> piece do people prefer</a:t>
            </a:r>
            <a:r>
              <a:rPr lang="en-GB" sz="1600" b="1"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marL="800100" lvl="1" indent="-342900" algn="just">
              <a:lnSpc>
                <a:spcPct val="300000"/>
              </a:lnSpc>
              <a:buFont typeface="+mj-lt"/>
              <a:buAutoNum type="arabicPeriod"/>
            </a:pPr>
            <a:r>
              <a:rPr lang="en-GB" sz="1600" b="1" kern="100" dirty="0">
                <a:effectLst/>
                <a:latin typeface="Bookman Old Style" panose="02050604050505020204" pitchFamily="18" charset="0"/>
                <a:ea typeface="Calibri" panose="020F0502020204030204" pitchFamily="34" charset="0"/>
                <a:cs typeface="Times New Roman" panose="02020603050405020304" pitchFamily="18" charset="0"/>
              </a:rPr>
              <a:t>How much are people willing to pay?</a:t>
            </a:r>
          </a:p>
          <a:p>
            <a:pPr marL="800100" lvl="1" indent="-342900" algn="just">
              <a:lnSpc>
                <a:spcPct val="300000"/>
              </a:lnSpc>
              <a:spcAft>
                <a:spcPts val="800"/>
              </a:spcAft>
              <a:buFont typeface="+mj-lt"/>
              <a:buAutoNum type="arabicPeriod"/>
            </a:pPr>
            <a:r>
              <a:rPr lang="en-GB" sz="1600" b="1" kern="100" dirty="0">
                <a:effectLst/>
                <a:latin typeface="Bookman Old Style" panose="02050604050505020204" pitchFamily="18" charset="0"/>
                <a:ea typeface="Calibri" panose="020F0502020204030204" pitchFamily="34" charset="0"/>
                <a:cs typeface="Times New Roman" panose="02020603050405020304" pitchFamily="18" charset="0"/>
              </a:rPr>
              <a:t>What is the preferred model</a:t>
            </a:r>
            <a:r>
              <a:rPr lang="en-GB" sz="1600" kern="100" dirty="0">
                <a:effectLst/>
                <a:latin typeface="Bookman Old Style" panose="02050604050505020204" pitchFamily="18" charset="0"/>
                <a:ea typeface="Calibri" panose="020F0502020204030204" pitchFamily="34" charset="0"/>
                <a:cs typeface="Times New Roman" panose="02020603050405020304" pitchFamily="18" charset="0"/>
              </a:rPr>
              <a:t>?</a:t>
            </a:r>
          </a:p>
          <a:p>
            <a:endParaRPr lang="en-GB" dirty="0"/>
          </a:p>
        </p:txBody>
      </p:sp>
    </p:spTree>
    <p:extLst>
      <p:ext uri="{BB962C8B-B14F-4D97-AF65-F5344CB8AC3E}">
        <p14:creationId xmlns:p14="http://schemas.microsoft.com/office/powerpoint/2010/main" val="653279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0BF25-ECFB-478D-BB89-DF15EF1EE90D}"/>
              </a:ext>
            </a:extLst>
          </p:cNvPr>
          <p:cNvSpPr>
            <a:spLocks noGrp="1"/>
          </p:cNvSpPr>
          <p:nvPr>
            <p:ph type="title"/>
          </p:nvPr>
        </p:nvSpPr>
        <p:spPr/>
        <p:txBody>
          <a:bodyPr/>
          <a:lstStyle/>
          <a:p>
            <a:r>
              <a:rPr lang="en-GB" sz="2000" dirty="0">
                <a:effectLst/>
                <a:latin typeface="Copperplate Gothic Bold" panose="020E0705020206020404" pitchFamily="34" charset="0"/>
                <a:ea typeface="Calibri" panose="020F0502020204030204" pitchFamily="34" charset="0"/>
              </a:rPr>
              <a:t>Designing the Questionnaire</a:t>
            </a:r>
            <a:endParaRPr lang="en-GB" sz="2000" dirty="0">
              <a:latin typeface="Copperplate Gothic Bold" panose="020E0705020206020404" pitchFamily="34" charset="0"/>
            </a:endParaRPr>
          </a:p>
        </p:txBody>
      </p:sp>
      <p:sp>
        <p:nvSpPr>
          <p:cNvPr id="3" name="TextBox 2">
            <a:extLst>
              <a:ext uri="{FF2B5EF4-FFF2-40B4-BE49-F238E27FC236}">
                <a16:creationId xmlns:a16="http://schemas.microsoft.com/office/drawing/2014/main" id="{C3682122-FE9F-4802-A3BC-8F865C71F756}"/>
              </a:ext>
            </a:extLst>
          </p:cNvPr>
          <p:cNvSpPr txBox="1"/>
          <p:nvPr/>
        </p:nvSpPr>
        <p:spPr>
          <a:xfrm>
            <a:off x="759656" y="2532184"/>
            <a:ext cx="11043138" cy="3642407"/>
          </a:xfrm>
          <a:prstGeom prst="rect">
            <a:avLst/>
          </a:prstGeom>
          <a:noFill/>
        </p:spPr>
        <p:txBody>
          <a:bodyPr wrap="square" rtlCol="0">
            <a:spAutoFit/>
          </a:bodyPr>
          <a:lstStyle/>
          <a:p>
            <a:pPr algn="just">
              <a:lnSpc>
                <a:spcPct val="200000"/>
              </a:lnSpc>
              <a:spcAft>
                <a:spcPts val="800"/>
              </a:spcAft>
            </a:pPr>
            <a:r>
              <a:rPr lang="en-GB" sz="1800" b="1" kern="100" dirty="0">
                <a:effectLst/>
                <a:latin typeface="Bookman Old Style" panose="02050604050505020204" pitchFamily="18" charset="0"/>
                <a:ea typeface="Calibri" panose="020F0502020204030204" pitchFamily="34" charset="0"/>
                <a:cs typeface="Times New Roman" panose="02020603050405020304" pitchFamily="18" charset="0"/>
              </a:rPr>
              <a:t>Title: Understanding </a:t>
            </a:r>
            <a:r>
              <a:rPr lang="en-GB" b="1" kern="100" dirty="0">
                <a:latin typeface="Bookman Old Style" panose="02050604050505020204" pitchFamily="18" charset="0"/>
                <a:ea typeface="Calibri" panose="020F0502020204030204" pitchFamily="34" charset="0"/>
                <a:cs typeface="Times New Roman" panose="02020603050405020304" pitchFamily="18" charset="0"/>
              </a:rPr>
              <a:t>the need of a </a:t>
            </a:r>
            <a:r>
              <a:rPr lang="en-GB" b="1" kern="100" dirty="0" err="1">
                <a:latin typeface="Bookman Old Style" panose="02050604050505020204" pitchFamily="18" charset="0"/>
                <a:ea typeface="Calibri" panose="020F0502020204030204" pitchFamily="34" charset="0"/>
                <a:cs typeface="Times New Roman" panose="02020603050405020304" pitchFamily="18" charset="0"/>
              </a:rPr>
              <a:t>jewelry</a:t>
            </a:r>
            <a:r>
              <a:rPr lang="en-GB" b="1" kern="100" dirty="0">
                <a:latin typeface="Bookman Old Style" panose="02050604050505020204" pitchFamily="18" charset="0"/>
                <a:ea typeface="Calibri" panose="020F0502020204030204" pitchFamily="34" charset="0"/>
                <a:cs typeface="Times New Roman" panose="02020603050405020304" pitchFamily="18" charset="0"/>
              </a:rPr>
              <a:t> boutique </a:t>
            </a:r>
            <a:r>
              <a:rPr lang="en-GB" sz="1800" b="1" kern="100" dirty="0">
                <a:effectLst/>
                <a:latin typeface="Bookman Old Style" panose="02050604050505020204" pitchFamily="18" charset="0"/>
                <a:ea typeface="Calibri" panose="020F0502020204030204" pitchFamily="34" charset="0"/>
                <a:cs typeface="Times New Roman" panose="02020603050405020304" pitchFamily="18" charset="0"/>
              </a:rPr>
              <a:t>preference in </a:t>
            </a:r>
            <a:r>
              <a:rPr lang="en-GB" sz="1800" b="1" kern="100" dirty="0" err="1">
                <a:effectLst/>
                <a:latin typeface="Bookman Old Style" panose="02050604050505020204" pitchFamily="18" charset="0"/>
                <a:ea typeface="Calibri" panose="020F0502020204030204" pitchFamily="34" charset="0"/>
                <a:cs typeface="Times New Roman" panose="02020603050405020304" pitchFamily="18" charset="0"/>
              </a:rPr>
              <a:t>Wuse</a:t>
            </a:r>
            <a:r>
              <a:rPr lang="en-GB" sz="1800" b="1" kern="100" dirty="0">
                <a:effectLst/>
                <a:latin typeface="Bookman Old Style" panose="02050604050505020204" pitchFamily="18" charset="0"/>
                <a:ea typeface="Calibri" panose="020F0502020204030204" pitchFamily="34" charset="0"/>
                <a:cs typeface="Times New Roman" panose="02020603050405020304" pitchFamily="18" charset="0"/>
              </a:rPr>
              <a:t> Abuja</a:t>
            </a:r>
          </a:p>
          <a:p>
            <a:pPr algn="just">
              <a:lnSpc>
                <a:spcPct val="200000"/>
              </a:lnSpc>
              <a:spcAft>
                <a:spcPts val="800"/>
              </a:spcAft>
            </a:pPr>
            <a:endParaRPr lang="en-GB" sz="1800" b="1"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a:lnSpc>
                <a:spcPct val="200000"/>
              </a:lnSpc>
              <a:spcAft>
                <a:spcPts val="800"/>
              </a:spcAft>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Introduction.</a:t>
            </a:r>
          </a:p>
          <a:p>
            <a:pPr>
              <a:lnSpc>
                <a:spcPct val="200000"/>
              </a:lnSpc>
              <a:spcAft>
                <a:spcPts val="800"/>
              </a:spcAft>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Thank you for participating in this survey. We are researching the possibility of opening a </a:t>
            </a:r>
            <a:r>
              <a:rPr lang="en-GB" sz="1800" kern="100" dirty="0" err="1">
                <a:effectLst/>
                <a:latin typeface="Bookman Old Style" panose="02050604050505020204" pitchFamily="18" charset="0"/>
                <a:ea typeface="Calibri" panose="020F0502020204030204" pitchFamily="34" charset="0"/>
                <a:cs typeface="Times New Roman" panose="02020603050405020304" pitchFamily="18" charset="0"/>
              </a:rPr>
              <a:t>jewelry</a:t>
            </a: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 boutique in </a:t>
            </a:r>
            <a:r>
              <a:rPr lang="en-GB" sz="1800" kern="100" dirty="0" err="1">
                <a:effectLst/>
                <a:latin typeface="Bookman Old Style" panose="02050604050505020204" pitchFamily="18" charset="0"/>
                <a:ea typeface="Calibri" panose="020F0502020204030204" pitchFamily="34" charset="0"/>
                <a:cs typeface="Times New Roman" panose="02020603050405020304" pitchFamily="18" charset="0"/>
              </a:rPr>
              <a:t>Wuse</a:t>
            </a: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 Abuja, and we would love your feedback. Your response will remain confidential and will help us make important business decisions.</a:t>
            </a:r>
          </a:p>
        </p:txBody>
      </p:sp>
    </p:spTree>
    <p:extLst>
      <p:ext uri="{BB962C8B-B14F-4D97-AF65-F5344CB8AC3E}">
        <p14:creationId xmlns:p14="http://schemas.microsoft.com/office/powerpoint/2010/main" val="3572131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F4B2-CA94-4052-97D6-D53DA2482FBE}"/>
              </a:ext>
            </a:extLst>
          </p:cNvPr>
          <p:cNvSpPr>
            <a:spLocks noGrp="1"/>
          </p:cNvSpPr>
          <p:nvPr>
            <p:ph type="title"/>
          </p:nvPr>
        </p:nvSpPr>
        <p:spPr/>
        <p:txBody>
          <a:bodyPr/>
          <a:lstStyle/>
          <a:p>
            <a: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t>Consent Question</a:t>
            </a:r>
            <a:b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br>
            <a:endParaRPr lang="en-GB" dirty="0">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3E0810B6-620C-4DB1-B7B9-5C77E11617AA}"/>
              </a:ext>
            </a:extLst>
          </p:cNvPr>
          <p:cNvSpPr>
            <a:spLocks noGrp="1"/>
          </p:cNvSpPr>
          <p:nvPr>
            <p:ph sz="half" idx="1"/>
          </p:nvPr>
        </p:nvSpPr>
        <p:spPr>
          <a:xfrm>
            <a:off x="1154954" y="2682682"/>
            <a:ext cx="4801772" cy="3572218"/>
          </a:xfrm>
        </p:spPr>
        <p:txBody>
          <a:bodyPr/>
          <a:lstStyle/>
          <a:p>
            <a:pPr marL="0" indent="0" algn="just">
              <a:lnSpc>
                <a:spcPct val="107000"/>
              </a:lnSpc>
              <a:spcAft>
                <a:spcPts val="800"/>
              </a:spcAft>
              <a:buNone/>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Do you agree to participate in this survey</a:t>
            </a:r>
          </a:p>
          <a:p>
            <a:pPr marL="342900" lvl="0" indent="-342900" algn="just">
              <a:lnSpc>
                <a:spcPct val="200000"/>
              </a:lnSpc>
              <a:buFont typeface="Symbol" panose="05050102010706020507" pitchFamily="18" charset="2"/>
              <a:buChar char=""/>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Yes</a:t>
            </a:r>
          </a:p>
          <a:p>
            <a:pPr marL="342900" lvl="0" indent="-342900" algn="just">
              <a:lnSpc>
                <a:spcPct val="200000"/>
              </a:lnSpc>
              <a:spcAft>
                <a:spcPts val="800"/>
              </a:spcAft>
              <a:buFont typeface="Symbol" panose="05050102010706020507" pitchFamily="18" charset="2"/>
              <a:buChar char=""/>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No </a:t>
            </a:r>
          </a:p>
          <a:p>
            <a:pPr marL="0" indent="0">
              <a:buNone/>
            </a:pPr>
            <a:endParaRPr lang="en-GB" sz="2400" kern="100" dirty="0">
              <a:effectLst/>
              <a:latin typeface="Britannic Bold" panose="020B0903060703020204" pitchFamily="34" charset="0"/>
              <a:ea typeface="Calibri" panose="020F0502020204030204" pitchFamily="34" charset="0"/>
              <a:cs typeface="Times New Roman" panose="02020603050405020304" pitchFamily="18" charset="0"/>
            </a:endParaRPr>
          </a:p>
          <a:p>
            <a:pPr marL="0" indent="0">
              <a:buNone/>
            </a:pPr>
            <a:endParaRPr lang="en-GB" dirty="0"/>
          </a:p>
        </p:txBody>
      </p:sp>
      <p:sp>
        <p:nvSpPr>
          <p:cNvPr id="4" name="Content Placeholder 3">
            <a:extLst>
              <a:ext uri="{FF2B5EF4-FFF2-40B4-BE49-F238E27FC236}">
                <a16:creationId xmlns:a16="http://schemas.microsoft.com/office/drawing/2014/main" id="{B3E904DB-5669-458C-9498-6EE706D73178}"/>
              </a:ext>
            </a:extLst>
          </p:cNvPr>
          <p:cNvSpPr>
            <a:spLocks noGrp="1"/>
          </p:cNvSpPr>
          <p:nvPr>
            <p:ph sz="half" idx="2"/>
          </p:nvPr>
        </p:nvSpPr>
        <p:spPr>
          <a:xfrm>
            <a:off x="6228522" y="2682682"/>
            <a:ext cx="4801772" cy="3201650"/>
          </a:xfrm>
        </p:spPr>
        <p:txBody>
          <a:bodyPr/>
          <a:lstStyle/>
          <a:p>
            <a:pPr marL="0" indent="0" algn="just">
              <a:lnSpc>
                <a:spcPct val="107000"/>
              </a:lnSpc>
              <a:spcAft>
                <a:spcPts val="800"/>
              </a:spcAft>
              <a:buNone/>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Eligibility Question (optional)</a:t>
            </a:r>
          </a:p>
          <a:p>
            <a:pPr marL="0" indent="0" algn="just">
              <a:lnSpc>
                <a:spcPct val="107000"/>
              </a:lnSpc>
              <a:spcAft>
                <a:spcPts val="800"/>
              </a:spcAft>
              <a:buNone/>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Do you </a:t>
            </a:r>
            <a:r>
              <a:rPr lang="en-GB" kern="100" dirty="0">
                <a:latin typeface="Bookman Old Style" panose="02050604050505020204" pitchFamily="18" charset="0"/>
                <a:ea typeface="Calibri" panose="020F0502020204030204" pitchFamily="34" charset="0"/>
                <a:cs typeface="Times New Roman" panose="02020603050405020304" pitchFamily="18" charset="0"/>
              </a:rPr>
              <a:t>wear </a:t>
            </a:r>
            <a:r>
              <a:rPr lang="en-GB" kern="100" dirty="0" err="1">
                <a:latin typeface="Bookman Old Style" panose="02050604050505020204" pitchFamily="18" charset="0"/>
                <a:ea typeface="Calibri" panose="020F0502020204030204" pitchFamily="34" charset="0"/>
                <a:cs typeface="Times New Roman" panose="02020603050405020304" pitchFamily="18" charset="0"/>
              </a:rPr>
              <a:t>jewelry</a:t>
            </a:r>
            <a:endParaRPr lang="en-GB" sz="18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342900" lvl="0" indent="-342900" algn="just">
              <a:lnSpc>
                <a:spcPct val="200000"/>
              </a:lnSpc>
              <a:buFont typeface="Symbol" panose="05050102010706020507" pitchFamily="18" charset="2"/>
              <a:buChar char=""/>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Yes</a:t>
            </a:r>
          </a:p>
          <a:p>
            <a:pPr marL="342900" lvl="0" indent="-342900" algn="just">
              <a:lnSpc>
                <a:spcPct val="200000"/>
              </a:lnSpc>
              <a:spcAft>
                <a:spcPts val="800"/>
              </a:spcAft>
              <a:buFont typeface="Symbol" panose="05050102010706020507" pitchFamily="18" charset="2"/>
              <a:buChar char=""/>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No</a:t>
            </a:r>
          </a:p>
          <a:p>
            <a:endParaRPr lang="en-GB" dirty="0"/>
          </a:p>
        </p:txBody>
      </p:sp>
    </p:spTree>
    <p:extLst>
      <p:ext uri="{BB962C8B-B14F-4D97-AF65-F5344CB8AC3E}">
        <p14:creationId xmlns:p14="http://schemas.microsoft.com/office/powerpoint/2010/main" val="2250722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7CD92-E1DF-46C7-809C-814D8ABAAC82}"/>
              </a:ext>
            </a:extLst>
          </p:cNvPr>
          <p:cNvSpPr>
            <a:spLocks noGrp="1"/>
          </p:cNvSpPr>
          <p:nvPr>
            <p:ph type="title"/>
          </p:nvPr>
        </p:nvSpPr>
        <p:spPr/>
        <p:txBody>
          <a:bodyPr/>
          <a:lstStyle/>
          <a:p>
            <a: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t>Section 1: General Information (Demographic Details)</a:t>
            </a:r>
            <a:b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br>
            <a:endParaRPr lang="en-GB" dirty="0">
              <a:latin typeface="Copperplate Gothic Bold" panose="020E0705020206020404" pitchFamily="34" charset="0"/>
            </a:endParaRPr>
          </a:p>
        </p:txBody>
      </p:sp>
      <p:sp>
        <p:nvSpPr>
          <p:cNvPr id="3" name="Text Placeholder 2">
            <a:extLst>
              <a:ext uri="{FF2B5EF4-FFF2-40B4-BE49-F238E27FC236}">
                <a16:creationId xmlns:a16="http://schemas.microsoft.com/office/drawing/2014/main" id="{8D9A1E77-5A3F-435F-80CA-DAABF1D17214}"/>
              </a:ext>
            </a:extLst>
          </p:cNvPr>
          <p:cNvSpPr>
            <a:spLocks noGrp="1"/>
          </p:cNvSpPr>
          <p:nvPr>
            <p:ph type="body" idx="1"/>
          </p:nvPr>
        </p:nvSpPr>
        <p:spPr/>
        <p:txBody>
          <a:bodyPr/>
          <a:lstStyle/>
          <a:p>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Age Group</a:t>
            </a:r>
          </a:p>
          <a:p>
            <a:endParaRPr lang="en-GB" dirty="0"/>
          </a:p>
        </p:txBody>
      </p:sp>
      <p:sp>
        <p:nvSpPr>
          <p:cNvPr id="4" name="Text Placeholder 3">
            <a:extLst>
              <a:ext uri="{FF2B5EF4-FFF2-40B4-BE49-F238E27FC236}">
                <a16:creationId xmlns:a16="http://schemas.microsoft.com/office/drawing/2014/main" id="{B3A35464-7480-4EDD-B953-3213D95FAAC3}"/>
              </a:ext>
            </a:extLst>
          </p:cNvPr>
          <p:cNvSpPr>
            <a:spLocks noGrp="1"/>
          </p:cNvSpPr>
          <p:nvPr>
            <p:ph type="body" sz="half" idx="15"/>
          </p:nvPr>
        </p:nvSpPr>
        <p:spPr/>
        <p:txBody>
          <a:bodyPr/>
          <a:lstStyle/>
          <a:p>
            <a:pPr marL="742950" lvl="1" indent="-285750" algn="just">
              <a:lnSpc>
                <a:spcPct val="107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18-24</a:t>
            </a:r>
          </a:p>
          <a:p>
            <a:pPr marL="742950" lvl="1" indent="-285750" algn="just">
              <a:lnSpc>
                <a:spcPct val="107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25-34</a:t>
            </a:r>
          </a:p>
          <a:p>
            <a:pPr marL="742950" lvl="1" indent="-285750" algn="just">
              <a:lnSpc>
                <a:spcPct val="107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35-44</a:t>
            </a:r>
          </a:p>
          <a:p>
            <a:pPr marL="742950" lvl="1" indent="-285750" algn="just">
              <a:lnSpc>
                <a:spcPct val="107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45-54</a:t>
            </a:r>
          </a:p>
          <a:p>
            <a:pPr marL="742950" lvl="1" indent="-285750" algn="just">
              <a:lnSpc>
                <a:spcPct val="107000"/>
              </a:lnSpc>
              <a:spcAft>
                <a:spcPts val="800"/>
              </a:spcAft>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55 and above</a:t>
            </a:r>
          </a:p>
          <a:p>
            <a:endParaRPr lang="en-GB" dirty="0"/>
          </a:p>
        </p:txBody>
      </p:sp>
      <p:sp>
        <p:nvSpPr>
          <p:cNvPr id="5" name="Text Placeholder 4">
            <a:extLst>
              <a:ext uri="{FF2B5EF4-FFF2-40B4-BE49-F238E27FC236}">
                <a16:creationId xmlns:a16="http://schemas.microsoft.com/office/drawing/2014/main" id="{44ACFC0D-3F33-4133-8E25-A47C7C22CBEB}"/>
              </a:ext>
            </a:extLst>
          </p:cNvPr>
          <p:cNvSpPr>
            <a:spLocks noGrp="1"/>
          </p:cNvSpPr>
          <p:nvPr>
            <p:ph type="body" sz="quarter" idx="3"/>
          </p:nvPr>
        </p:nvSpPr>
        <p:spPr/>
        <p:txBody>
          <a:bodyPr/>
          <a:lstStyle/>
          <a:p>
            <a:pPr algn="ctr"/>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Gender</a:t>
            </a:r>
          </a:p>
          <a:p>
            <a:endParaRPr lang="en-GB" dirty="0"/>
          </a:p>
        </p:txBody>
      </p:sp>
      <p:sp>
        <p:nvSpPr>
          <p:cNvPr id="6" name="Text Placeholder 5">
            <a:extLst>
              <a:ext uri="{FF2B5EF4-FFF2-40B4-BE49-F238E27FC236}">
                <a16:creationId xmlns:a16="http://schemas.microsoft.com/office/drawing/2014/main" id="{4A0B4696-B493-436D-84C6-AF24D205A267}"/>
              </a:ext>
            </a:extLst>
          </p:cNvPr>
          <p:cNvSpPr>
            <a:spLocks noGrp="1"/>
          </p:cNvSpPr>
          <p:nvPr>
            <p:ph type="body" sz="half" idx="16"/>
          </p:nvPr>
        </p:nvSpPr>
        <p:spPr/>
        <p:txBody>
          <a:bodyPr/>
          <a:lstStyle/>
          <a:p>
            <a:pPr marL="742950" lvl="1" indent="-285750" algn="just">
              <a:lnSpc>
                <a:spcPct val="15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Male</a:t>
            </a:r>
          </a:p>
          <a:p>
            <a:pPr marL="742950" lvl="1" indent="-285750" algn="just">
              <a:lnSpc>
                <a:spcPct val="15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Female</a:t>
            </a:r>
          </a:p>
          <a:p>
            <a:pPr marL="742950" lvl="1" indent="-285750" algn="just">
              <a:lnSpc>
                <a:spcPct val="150000"/>
              </a:lnSpc>
              <a:spcAft>
                <a:spcPts val="800"/>
              </a:spcAft>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Prefer not to say</a:t>
            </a:r>
          </a:p>
          <a:p>
            <a:endParaRPr lang="en-GB" dirty="0"/>
          </a:p>
        </p:txBody>
      </p:sp>
      <p:sp>
        <p:nvSpPr>
          <p:cNvPr id="7" name="Text Placeholder 6">
            <a:extLst>
              <a:ext uri="{FF2B5EF4-FFF2-40B4-BE49-F238E27FC236}">
                <a16:creationId xmlns:a16="http://schemas.microsoft.com/office/drawing/2014/main" id="{D8049D10-D86E-4895-AE58-6B7CC4C50030}"/>
              </a:ext>
            </a:extLst>
          </p:cNvPr>
          <p:cNvSpPr>
            <a:spLocks noGrp="1"/>
          </p:cNvSpPr>
          <p:nvPr>
            <p:ph type="body" sz="quarter" idx="13"/>
          </p:nvPr>
        </p:nvSpPr>
        <p:spPr>
          <a:xfrm>
            <a:off x="7895169" y="2603500"/>
            <a:ext cx="3138695" cy="576263"/>
          </a:xfrm>
        </p:spPr>
        <p:txBody>
          <a:bodyPr/>
          <a:lstStyle/>
          <a:p>
            <a:endParaRPr lang="en-GB" sz="18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algn="r"/>
            <a:r>
              <a:rPr lang="en-GB" sz="1600" kern="100" dirty="0">
                <a:effectLst/>
                <a:latin typeface="Britannic Bold" panose="020B0903060703020204" pitchFamily="34" charset="0"/>
                <a:ea typeface="Calibri" panose="020F0502020204030204" pitchFamily="34" charset="0"/>
                <a:cs typeface="Times New Roman" panose="02020603050405020304" pitchFamily="18" charset="0"/>
              </a:rPr>
              <a:t>Do you live or work in </a:t>
            </a:r>
            <a:r>
              <a:rPr lang="en-GB" sz="1600" kern="100" dirty="0" err="1">
                <a:effectLst/>
                <a:latin typeface="Britannic Bold" panose="020B0903060703020204" pitchFamily="34" charset="0"/>
                <a:ea typeface="Calibri" panose="020F0502020204030204" pitchFamily="34" charset="0"/>
                <a:cs typeface="Times New Roman" panose="02020603050405020304" pitchFamily="18" charset="0"/>
              </a:rPr>
              <a:t>Wuse</a:t>
            </a:r>
            <a:endParaRPr lang="en-GB" sz="1600" kern="100" dirty="0">
              <a:effectLst/>
              <a:latin typeface="Britannic Bold" panose="020B0903060703020204" pitchFamily="34" charset="0"/>
              <a:ea typeface="Calibri" panose="020F0502020204030204" pitchFamily="34" charset="0"/>
              <a:cs typeface="Times New Roman" panose="02020603050405020304" pitchFamily="18" charset="0"/>
            </a:endParaRPr>
          </a:p>
          <a:p>
            <a:endParaRPr lang="en-GB" dirty="0"/>
          </a:p>
        </p:txBody>
      </p:sp>
      <p:sp>
        <p:nvSpPr>
          <p:cNvPr id="8" name="Text Placeholder 7">
            <a:extLst>
              <a:ext uri="{FF2B5EF4-FFF2-40B4-BE49-F238E27FC236}">
                <a16:creationId xmlns:a16="http://schemas.microsoft.com/office/drawing/2014/main" id="{AA7C9FB0-A164-48DB-838D-49E06672DDBD}"/>
              </a:ext>
            </a:extLst>
          </p:cNvPr>
          <p:cNvSpPr>
            <a:spLocks noGrp="1"/>
          </p:cNvSpPr>
          <p:nvPr>
            <p:ph type="body" sz="half" idx="17"/>
          </p:nvPr>
        </p:nvSpPr>
        <p:spPr>
          <a:xfrm>
            <a:off x="7888329" y="3179762"/>
            <a:ext cx="3138695" cy="2847293"/>
          </a:xfrm>
        </p:spPr>
        <p:txBody>
          <a:bodyPr/>
          <a:lstStyle/>
          <a:p>
            <a:pPr marL="742950" lvl="1" indent="-285750" algn="just">
              <a:lnSpc>
                <a:spcPct val="20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Yes</a:t>
            </a:r>
          </a:p>
          <a:p>
            <a:pPr marL="742950" lvl="1" indent="-285750" algn="just">
              <a:lnSpc>
                <a:spcPct val="200000"/>
              </a:lnSpc>
              <a:spcAft>
                <a:spcPts val="800"/>
              </a:spcAft>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No</a:t>
            </a:r>
          </a:p>
          <a:p>
            <a:endParaRPr lang="en-GB" dirty="0"/>
          </a:p>
        </p:txBody>
      </p:sp>
    </p:spTree>
    <p:extLst>
      <p:ext uri="{BB962C8B-B14F-4D97-AF65-F5344CB8AC3E}">
        <p14:creationId xmlns:p14="http://schemas.microsoft.com/office/powerpoint/2010/main" val="72984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39554-9FB3-4166-90E4-94C3BAAC40A7}"/>
              </a:ext>
            </a:extLst>
          </p:cNvPr>
          <p:cNvSpPr>
            <a:spLocks noGrp="1"/>
          </p:cNvSpPr>
          <p:nvPr>
            <p:ph type="title"/>
          </p:nvPr>
        </p:nvSpPr>
        <p:spPr>
          <a:xfrm>
            <a:off x="1337834" y="1044006"/>
            <a:ext cx="8761413" cy="706964"/>
          </a:xfrm>
        </p:spPr>
        <p:txBody>
          <a:bodyPr/>
          <a:lstStyle/>
          <a:p>
            <a: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t>Section 2; Market Demand</a:t>
            </a:r>
            <a:b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br>
            <a: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t>Objective: To determine if there is demand for a </a:t>
            </a:r>
            <a:r>
              <a:rPr lang="en-GB" sz="1800" kern="100" dirty="0" err="1">
                <a:effectLst/>
                <a:latin typeface="Copperplate Gothic Bold" panose="020E0705020206020404" pitchFamily="34" charset="0"/>
                <a:ea typeface="Calibri" panose="020F0502020204030204" pitchFamily="34" charset="0"/>
                <a:cs typeface="Times New Roman" panose="02020603050405020304" pitchFamily="18" charset="0"/>
              </a:rPr>
              <a:t>jewelry</a:t>
            </a:r>
            <a: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t> boutique in </a:t>
            </a:r>
            <a:r>
              <a:rPr lang="en-GB" sz="1800" kern="100" dirty="0" err="1">
                <a:effectLst/>
                <a:latin typeface="Copperplate Gothic Bold" panose="020E0705020206020404" pitchFamily="34" charset="0"/>
                <a:ea typeface="Calibri" panose="020F0502020204030204" pitchFamily="34" charset="0"/>
                <a:cs typeface="Times New Roman" panose="02020603050405020304" pitchFamily="18" charset="0"/>
              </a:rPr>
              <a:t>wuse</a:t>
            </a:r>
            <a:br>
              <a:rPr lang="en-GB" sz="1800" kern="100" dirty="0">
                <a:effectLst/>
                <a:latin typeface="Copperplate Gothic Bold" panose="020E0705020206020404" pitchFamily="34" charset="0"/>
                <a:ea typeface="Calibri" panose="020F0502020204030204" pitchFamily="34" charset="0"/>
                <a:cs typeface="Times New Roman" panose="02020603050405020304" pitchFamily="18" charset="0"/>
              </a:rPr>
            </a:br>
            <a:endParaRPr lang="en-GB" dirty="0">
              <a:latin typeface="Copperplate Gothic Bold" panose="020E0705020206020404" pitchFamily="34" charset="0"/>
            </a:endParaRPr>
          </a:p>
        </p:txBody>
      </p:sp>
      <p:sp>
        <p:nvSpPr>
          <p:cNvPr id="3" name="Text Placeholder 2">
            <a:extLst>
              <a:ext uri="{FF2B5EF4-FFF2-40B4-BE49-F238E27FC236}">
                <a16:creationId xmlns:a16="http://schemas.microsoft.com/office/drawing/2014/main" id="{B27C19F8-D2EC-4A39-BC93-A6738B9B48C2}"/>
              </a:ext>
            </a:extLst>
          </p:cNvPr>
          <p:cNvSpPr>
            <a:spLocks noGrp="1"/>
          </p:cNvSpPr>
          <p:nvPr>
            <p:ph type="body" idx="1"/>
          </p:nvPr>
        </p:nvSpPr>
        <p:spPr/>
        <p:txBody>
          <a:bodyPr/>
          <a:lstStyle/>
          <a:p>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How often do you </a:t>
            </a:r>
            <a:r>
              <a:rPr lang="en-GB" sz="1800" kern="100" dirty="0">
                <a:latin typeface="Britannic Bold" panose="020B0903060703020204" pitchFamily="34" charset="0"/>
                <a:ea typeface="Calibri" panose="020F0502020204030204" pitchFamily="34" charset="0"/>
                <a:cs typeface="Times New Roman" panose="02020603050405020304" pitchFamily="18" charset="0"/>
              </a:rPr>
              <a:t>wear </a:t>
            </a:r>
            <a:r>
              <a:rPr lang="en-GB" sz="1800" kern="100" dirty="0" err="1">
                <a:latin typeface="Britannic Bold" panose="020B0903060703020204" pitchFamily="34" charset="0"/>
                <a:ea typeface="Calibri" panose="020F0502020204030204" pitchFamily="34" charset="0"/>
                <a:cs typeface="Times New Roman" panose="02020603050405020304" pitchFamily="18" charset="0"/>
              </a:rPr>
              <a:t>jewelry</a:t>
            </a:r>
            <a:r>
              <a:rPr lang="en-GB" sz="1800" kern="100" dirty="0">
                <a:latin typeface="Britannic Bold" panose="020B0903060703020204" pitchFamily="34" charset="0"/>
                <a:ea typeface="Calibri" panose="020F0502020204030204" pitchFamily="34" charset="0"/>
                <a:cs typeface="Times New Roman" panose="02020603050405020304" pitchFamily="18" charset="0"/>
              </a:rPr>
              <a:t> </a:t>
            </a:r>
            <a:endParaRPr lang="en-GB" sz="1800" kern="100" dirty="0">
              <a:effectLst/>
              <a:latin typeface="Britannic Bold" panose="020B0903060703020204" pitchFamily="34" charset="0"/>
              <a:ea typeface="Calibri" panose="020F0502020204030204" pitchFamily="34" charset="0"/>
              <a:cs typeface="Times New Roman" panose="02020603050405020304" pitchFamily="18" charset="0"/>
            </a:endParaRPr>
          </a:p>
          <a:p>
            <a:endParaRPr lang="en-GB" dirty="0"/>
          </a:p>
        </p:txBody>
      </p:sp>
      <p:sp>
        <p:nvSpPr>
          <p:cNvPr id="4" name="Content Placeholder 3">
            <a:extLst>
              <a:ext uri="{FF2B5EF4-FFF2-40B4-BE49-F238E27FC236}">
                <a16:creationId xmlns:a16="http://schemas.microsoft.com/office/drawing/2014/main" id="{49779492-B287-4714-A222-AE03A1E2A5F4}"/>
              </a:ext>
            </a:extLst>
          </p:cNvPr>
          <p:cNvSpPr>
            <a:spLocks noGrp="1"/>
          </p:cNvSpPr>
          <p:nvPr>
            <p:ph sz="half" idx="2"/>
          </p:nvPr>
        </p:nvSpPr>
        <p:spPr/>
        <p:txBody>
          <a:bodyPr/>
          <a:lstStyle/>
          <a:p>
            <a:pPr marL="742950" lvl="1" indent="-285750" algn="just">
              <a:lnSpc>
                <a:spcPct val="15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Daily</a:t>
            </a:r>
          </a:p>
          <a:p>
            <a:pPr marL="742950" lvl="1" indent="-285750" algn="just">
              <a:lnSpc>
                <a:spcPct val="15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A few times in a week’</a:t>
            </a:r>
          </a:p>
          <a:p>
            <a:pPr marL="742950" lvl="1" indent="-285750" algn="just">
              <a:lnSpc>
                <a:spcPct val="15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Once a week</a:t>
            </a:r>
          </a:p>
          <a:p>
            <a:pPr marL="742950" lvl="1" indent="-285750" algn="just">
              <a:lnSpc>
                <a:spcPct val="150000"/>
              </a:lnSpc>
              <a:spcAft>
                <a:spcPts val="800"/>
              </a:spcAft>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Occasionally</a:t>
            </a:r>
          </a:p>
          <a:p>
            <a:endParaRPr lang="en-GB" dirty="0"/>
          </a:p>
        </p:txBody>
      </p:sp>
      <p:sp>
        <p:nvSpPr>
          <p:cNvPr id="5" name="Text Placeholder 4">
            <a:extLst>
              <a:ext uri="{FF2B5EF4-FFF2-40B4-BE49-F238E27FC236}">
                <a16:creationId xmlns:a16="http://schemas.microsoft.com/office/drawing/2014/main" id="{40D01D2F-0D8D-4584-8740-F4FD9BE5F052}"/>
              </a:ext>
            </a:extLst>
          </p:cNvPr>
          <p:cNvSpPr>
            <a:spLocks noGrp="1"/>
          </p:cNvSpPr>
          <p:nvPr>
            <p:ph type="body" sz="quarter" idx="3"/>
          </p:nvPr>
        </p:nvSpPr>
        <p:spPr/>
        <p:txBody>
          <a:bodyPr/>
          <a:lstStyle/>
          <a:p>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Where do you usually get your </a:t>
            </a:r>
            <a:r>
              <a:rPr lang="en-GB" sz="1800" kern="100" dirty="0" err="1">
                <a:effectLst/>
                <a:latin typeface="Britannic Bold" panose="020B0903060703020204" pitchFamily="34" charset="0"/>
                <a:ea typeface="Calibri" panose="020F0502020204030204" pitchFamily="34" charset="0"/>
                <a:cs typeface="Times New Roman" panose="02020603050405020304" pitchFamily="18" charset="0"/>
              </a:rPr>
              <a:t>jewelry</a:t>
            </a:r>
            <a:endParaRPr lang="en-GB" sz="1800" kern="100" dirty="0">
              <a:effectLst/>
              <a:latin typeface="Britannic Bold" panose="020B0903060703020204" pitchFamily="34" charset="0"/>
              <a:ea typeface="Calibri" panose="020F0502020204030204" pitchFamily="34" charset="0"/>
              <a:cs typeface="Times New Roman" panose="02020603050405020304" pitchFamily="18" charset="0"/>
            </a:endParaRPr>
          </a:p>
          <a:p>
            <a:endParaRPr lang="en-GB" dirty="0"/>
          </a:p>
        </p:txBody>
      </p:sp>
      <p:sp>
        <p:nvSpPr>
          <p:cNvPr id="6" name="Content Placeholder 5">
            <a:extLst>
              <a:ext uri="{FF2B5EF4-FFF2-40B4-BE49-F238E27FC236}">
                <a16:creationId xmlns:a16="http://schemas.microsoft.com/office/drawing/2014/main" id="{2F8173D6-E3E8-4C04-9981-C540914F43FC}"/>
              </a:ext>
            </a:extLst>
          </p:cNvPr>
          <p:cNvSpPr>
            <a:spLocks noGrp="1"/>
          </p:cNvSpPr>
          <p:nvPr>
            <p:ph sz="quarter" idx="4"/>
          </p:nvPr>
        </p:nvSpPr>
        <p:spPr>
          <a:xfrm>
            <a:off x="6208712" y="3179762"/>
            <a:ext cx="4825158" cy="2840039"/>
          </a:xfrm>
        </p:spPr>
        <p:txBody>
          <a:bodyPr/>
          <a:lstStyle/>
          <a:p>
            <a:pPr marL="742950" lvl="1" indent="-285750" algn="just">
              <a:lnSpc>
                <a:spcPct val="20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Online store</a:t>
            </a:r>
          </a:p>
          <a:p>
            <a:pPr marL="742950" lvl="1" indent="-285750" algn="just">
              <a:lnSpc>
                <a:spcPct val="200000"/>
              </a:lnSpc>
              <a:buFont typeface="+mj-lt"/>
              <a:buAutoNum type="alphaLcPeriod"/>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Physical store</a:t>
            </a:r>
          </a:p>
          <a:p>
            <a:pPr marL="457200" lvl="1" indent="0" algn="just">
              <a:lnSpc>
                <a:spcPct val="200000"/>
              </a:lnSpc>
              <a:buNone/>
            </a:pPr>
            <a:endParaRPr lang="en-GB" sz="18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457200" lvl="1" indent="0" algn="just">
              <a:lnSpc>
                <a:spcPct val="107000"/>
              </a:lnSpc>
              <a:spcAft>
                <a:spcPts val="800"/>
              </a:spcAft>
              <a:buNone/>
            </a:pPr>
            <a:endParaRPr lang="en-GB" sz="18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marL="457200" lvl="1" indent="0" algn="just">
              <a:lnSpc>
                <a:spcPct val="107000"/>
              </a:lnSpc>
              <a:buNone/>
            </a:pP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6763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C5EFC-7F6C-4CFE-829C-01BB14BE9960}"/>
              </a:ext>
            </a:extLst>
          </p:cNvPr>
          <p:cNvSpPr>
            <a:spLocks noGrp="1"/>
          </p:cNvSpPr>
          <p:nvPr>
            <p:ph type="title"/>
          </p:nvPr>
        </p:nvSpPr>
        <p:spPr/>
        <p:txBody>
          <a:bodyPr/>
          <a:lstStyle/>
          <a:p>
            <a:r>
              <a:rPr lang="en-US" sz="2400" dirty="0">
                <a:latin typeface="Copperplate Gothic Bold" panose="020E0705020206020404" pitchFamily="34" charset="0"/>
              </a:rPr>
              <a:t>Section 3: </a:t>
            </a:r>
            <a:br>
              <a:rPr lang="en-US" sz="2400" dirty="0">
                <a:latin typeface="Copperplate Gothic Bold" panose="020E0705020206020404" pitchFamily="34" charset="0"/>
              </a:rPr>
            </a:br>
            <a:r>
              <a:rPr lang="en-US" sz="2400" dirty="0">
                <a:latin typeface="Copperplate Gothic Bold" panose="020E0705020206020404" pitchFamily="34" charset="0"/>
              </a:rPr>
              <a:t>customer preference &amp; price strategy</a:t>
            </a:r>
            <a:endParaRPr lang="en-GB" sz="2400" dirty="0">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6C0E0B51-629E-486A-A232-5B5CF4DDB0AF}"/>
              </a:ext>
            </a:extLst>
          </p:cNvPr>
          <p:cNvSpPr>
            <a:spLocks noGrp="1"/>
          </p:cNvSpPr>
          <p:nvPr>
            <p:ph sz="half" idx="1"/>
          </p:nvPr>
        </p:nvSpPr>
        <p:spPr>
          <a:xfrm>
            <a:off x="1154953" y="2468031"/>
            <a:ext cx="4825158" cy="3416301"/>
          </a:xfrm>
        </p:spPr>
        <p:txBody>
          <a:bodyPr>
            <a:normAutofit fontScale="85000" lnSpcReduction="10000"/>
          </a:bodyPr>
          <a:lstStyle/>
          <a:p>
            <a:pPr marL="0" indent="0">
              <a:buNone/>
            </a:pPr>
            <a:r>
              <a:rPr lang="en-GB" sz="1800" b="1" dirty="0">
                <a:effectLst/>
                <a:latin typeface="Bookman Old Style" panose="02050604050505020204" pitchFamily="18" charset="0"/>
                <a:ea typeface="Times New Roman" panose="02020603050405020304" pitchFamily="18" charset="0"/>
              </a:rPr>
              <a:t>What type of </a:t>
            </a:r>
            <a:r>
              <a:rPr lang="en-GB" sz="1800" b="1" dirty="0" err="1">
                <a:effectLst/>
                <a:latin typeface="Bookman Old Style" panose="02050604050505020204" pitchFamily="18" charset="0"/>
                <a:ea typeface="Times New Roman" panose="02020603050405020304" pitchFamily="18" charset="0"/>
              </a:rPr>
              <a:t>jewelry</a:t>
            </a:r>
            <a:r>
              <a:rPr lang="en-GB" sz="1800" b="1" dirty="0">
                <a:effectLst/>
                <a:latin typeface="Bookman Old Style" panose="02050604050505020204" pitchFamily="18" charset="0"/>
                <a:ea typeface="Times New Roman" panose="02020603050405020304" pitchFamily="18" charset="0"/>
              </a:rPr>
              <a:t> do you prefer?</a:t>
            </a:r>
            <a:endParaRPr lang="en-GB" sz="1800" dirty="0">
              <a:effectLst/>
              <a:latin typeface="Bookman Old Style" panose="02050604050505020204" pitchFamily="18" charset="0"/>
              <a:ea typeface="Times New Roman" panose="02020603050405020304" pitchFamily="18" charset="0"/>
            </a:endParaRPr>
          </a:p>
          <a:p>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Neck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Hand &amp; Finger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Ear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Facial &amp; Body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Ankle &amp; Foot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Brooches &amp; Pin</a:t>
            </a:r>
          </a:p>
          <a:p>
            <a:pPr>
              <a:lnSpc>
                <a:spcPct val="110000"/>
              </a:lnSpc>
            </a:pPr>
            <a:r>
              <a:rPr lang="en-GB" dirty="0">
                <a:latin typeface="Bookman Old Style" panose="02050604050505020204" pitchFamily="18" charset="0"/>
              </a:rPr>
              <a:t>Watches &amp; Functional </a:t>
            </a:r>
            <a:r>
              <a:rPr lang="en-GB" dirty="0" err="1">
                <a:latin typeface="Bookman Old Style" panose="02050604050505020204" pitchFamily="18" charset="0"/>
              </a:rPr>
              <a:t>Jewelry</a:t>
            </a:r>
            <a:endParaRPr lang="en-GB" dirty="0">
              <a:latin typeface="Bookman Old Style" panose="02050604050505020204" pitchFamily="18" charset="0"/>
            </a:endParaRPr>
          </a:p>
        </p:txBody>
      </p:sp>
      <p:sp>
        <p:nvSpPr>
          <p:cNvPr id="4" name="Content Placeholder 3">
            <a:extLst>
              <a:ext uri="{FF2B5EF4-FFF2-40B4-BE49-F238E27FC236}">
                <a16:creationId xmlns:a16="http://schemas.microsoft.com/office/drawing/2014/main" id="{6F1FA047-3AA0-49F5-BC06-A74A73C1E980}"/>
              </a:ext>
            </a:extLst>
          </p:cNvPr>
          <p:cNvSpPr>
            <a:spLocks noGrp="1"/>
          </p:cNvSpPr>
          <p:nvPr>
            <p:ph sz="half" idx="2"/>
          </p:nvPr>
        </p:nvSpPr>
        <p:spPr>
          <a:xfrm>
            <a:off x="6211890" y="2679046"/>
            <a:ext cx="4825155" cy="3205286"/>
          </a:xfrm>
        </p:spPr>
        <p:txBody>
          <a:bodyPr>
            <a:normAutofit fontScale="85000" lnSpcReduction="10000"/>
          </a:bodyPr>
          <a:lstStyle/>
          <a:p>
            <a:pPr marL="0" indent="0">
              <a:buNone/>
            </a:pPr>
            <a:r>
              <a:rPr lang="en-GB" sz="1800" b="1" dirty="0">
                <a:effectLst/>
                <a:latin typeface="Bookman Old Style" panose="02050604050505020204" pitchFamily="18" charset="0"/>
                <a:ea typeface="Times New Roman" panose="02020603050405020304" pitchFamily="18" charset="0"/>
              </a:rPr>
              <a:t>What price range would you be comfortable paying for a </a:t>
            </a:r>
            <a:r>
              <a:rPr lang="en-GB" sz="1800" b="1" dirty="0" err="1">
                <a:effectLst/>
                <a:latin typeface="Bookman Old Style" panose="02050604050505020204" pitchFamily="18" charset="0"/>
                <a:ea typeface="Times New Roman" panose="02020603050405020304" pitchFamily="18" charset="0"/>
              </a:rPr>
              <a:t>jewelry</a:t>
            </a:r>
            <a:endParaRPr lang="en-GB" sz="1800" b="1" dirty="0">
              <a:effectLst/>
              <a:latin typeface="Bookman Old Style" panose="02050604050505020204" pitchFamily="18" charset="0"/>
              <a:ea typeface="Times New Roman" panose="02020603050405020304" pitchFamily="18" charset="0"/>
            </a:endParaRPr>
          </a:p>
          <a:p>
            <a:pPr marL="0" indent="0">
              <a:buNone/>
            </a:pPr>
            <a:endParaRPr lang="en-GB" sz="1800" dirty="0">
              <a:effectLst/>
              <a:latin typeface="Bookman Old Style" panose="02050604050505020204" pitchFamily="18" charset="0"/>
              <a:ea typeface="Times New Roman" panose="02020603050405020304" pitchFamily="18" charset="0"/>
            </a:endParaRPr>
          </a:p>
          <a:p>
            <a:pPr>
              <a:lnSpc>
                <a:spcPct val="160000"/>
              </a:lnSpc>
            </a:pPr>
            <a:r>
              <a:rPr lang="en-GB" sz="1800" dirty="0">
                <a:effectLst/>
                <a:latin typeface="Bookman Old Style" panose="02050604050505020204" pitchFamily="18" charset="0"/>
                <a:ea typeface="Times New Roman" panose="02020603050405020304" pitchFamily="18" charset="0"/>
              </a:rPr>
              <a:t>₦</a:t>
            </a:r>
            <a:r>
              <a:rPr lang="en-US" dirty="0">
                <a:latin typeface="Bookman Old Style" panose="02050604050505020204" pitchFamily="18" charset="0"/>
                <a:ea typeface="Times New Roman" panose="02020603050405020304" pitchFamily="18" charset="0"/>
              </a:rPr>
              <a:t>50,000</a:t>
            </a:r>
            <a:r>
              <a:rPr lang="en-GB" sz="1800" dirty="0">
                <a:effectLst/>
                <a:latin typeface="Bookman Old Style" panose="02050604050505020204" pitchFamily="18" charset="0"/>
                <a:ea typeface="Times New Roman" panose="02020603050405020304" pitchFamily="18" charset="0"/>
              </a:rPr>
              <a:t> - ₦</a:t>
            </a:r>
            <a:r>
              <a:rPr lang="en-US" dirty="0">
                <a:latin typeface="Bookman Old Style" panose="02050604050505020204" pitchFamily="18" charset="0"/>
                <a:ea typeface="Times New Roman" panose="02020603050405020304" pitchFamily="18" charset="0"/>
              </a:rPr>
              <a:t>150</a:t>
            </a:r>
            <a:r>
              <a:rPr lang="en-GB" sz="1800" dirty="0">
                <a:effectLst/>
                <a:latin typeface="Bookman Old Style" panose="02050604050505020204" pitchFamily="18" charset="0"/>
                <a:ea typeface="Times New Roman" panose="02020603050405020304" pitchFamily="18" charset="0"/>
              </a:rPr>
              <a:t>,000</a:t>
            </a:r>
          </a:p>
          <a:p>
            <a:pPr>
              <a:lnSpc>
                <a:spcPct val="160000"/>
              </a:lnSpc>
            </a:pPr>
            <a:r>
              <a:rPr lang="en-GB" sz="1800" dirty="0">
                <a:effectLst/>
                <a:latin typeface="Bookman Old Style" panose="02050604050505020204" pitchFamily="18" charset="0"/>
                <a:ea typeface="Times New Roman" panose="02020603050405020304" pitchFamily="18" charset="0"/>
              </a:rPr>
              <a:t>₦</a:t>
            </a:r>
            <a:r>
              <a:rPr lang="en-US" dirty="0">
                <a:latin typeface="Bookman Old Style" panose="02050604050505020204" pitchFamily="18" charset="0"/>
                <a:ea typeface="Times New Roman" panose="02020603050405020304" pitchFamily="18" charset="0"/>
              </a:rPr>
              <a:t>151,0</a:t>
            </a:r>
            <a:r>
              <a:rPr lang="en-GB" sz="1800" dirty="0">
                <a:effectLst/>
                <a:latin typeface="Bookman Old Style" panose="02050604050505020204" pitchFamily="18" charset="0"/>
                <a:ea typeface="Times New Roman" panose="02020603050405020304" pitchFamily="18" charset="0"/>
              </a:rPr>
              <a:t>00 - ₦</a:t>
            </a:r>
            <a:r>
              <a:rPr lang="en-US" dirty="0">
                <a:latin typeface="Bookman Old Style" panose="02050604050505020204" pitchFamily="18" charset="0"/>
                <a:ea typeface="Times New Roman" panose="02020603050405020304" pitchFamily="18" charset="0"/>
              </a:rPr>
              <a:t>2</a:t>
            </a:r>
            <a:r>
              <a:rPr lang="en-GB" dirty="0">
                <a:latin typeface="Bookman Old Style" panose="02050604050505020204" pitchFamily="18" charset="0"/>
                <a:ea typeface="Times New Roman" panose="02020603050405020304" pitchFamily="18" charset="0"/>
              </a:rPr>
              <a:t>50,000</a:t>
            </a:r>
            <a:endParaRPr lang="en-GB" sz="1800" dirty="0">
              <a:effectLst/>
              <a:latin typeface="Bookman Old Style" panose="02050604050505020204" pitchFamily="18" charset="0"/>
              <a:ea typeface="Times New Roman" panose="02020603050405020304" pitchFamily="18" charset="0"/>
            </a:endParaRPr>
          </a:p>
          <a:p>
            <a:pPr>
              <a:lnSpc>
                <a:spcPct val="160000"/>
              </a:lnSpc>
            </a:pPr>
            <a:r>
              <a:rPr lang="en-GB" sz="1800" dirty="0">
                <a:effectLst/>
                <a:latin typeface="Bookman Old Style" panose="02050604050505020204" pitchFamily="18" charset="0"/>
                <a:ea typeface="Times New Roman" panose="02020603050405020304" pitchFamily="18" charset="0"/>
              </a:rPr>
              <a:t>₦</a:t>
            </a:r>
            <a:r>
              <a:rPr lang="en-US" sz="1800" dirty="0">
                <a:effectLst/>
                <a:latin typeface="Bookman Old Style" panose="02050604050505020204" pitchFamily="18" charset="0"/>
                <a:ea typeface="Times New Roman" panose="02020603050405020304" pitchFamily="18" charset="0"/>
              </a:rPr>
              <a:t>251</a:t>
            </a:r>
            <a:r>
              <a:rPr lang="en-US" dirty="0">
                <a:latin typeface="Bookman Old Style" panose="02050604050505020204" pitchFamily="18" charset="0"/>
                <a:ea typeface="Times New Roman" panose="02020603050405020304" pitchFamily="18" charset="0"/>
              </a:rPr>
              <a:t>,000</a:t>
            </a:r>
            <a:r>
              <a:rPr lang="en-GB" sz="1800" dirty="0">
                <a:effectLst/>
                <a:latin typeface="Bookman Old Style" panose="02050604050505020204" pitchFamily="18" charset="0"/>
                <a:ea typeface="Times New Roman" panose="02020603050405020304" pitchFamily="18" charset="0"/>
              </a:rPr>
              <a:t> - ₦</a:t>
            </a:r>
            <a:r>
              <a:rPr lang="en-US" dirty="0">
                <a:latin typeface="Bookman Old Style" panose="02050604050505020204" pitchFamily="18" charset="0"/>
                <a:ea typeface="Times New Roman" panose="02020603050405020304" pitchFamily="18" charset="0"/>
              </a:rPr>
              <a:t>550,000</a:t>
            </a:r>
            <a:endParaRPr lang="en-GB" sz="1800" dirty="0">
              <a:effectLst/>
              <a:latin typeface="Bookman Old Style" panose="02050604050505020204" pitchFamily="18" charset="0"/>
              <a:ea typeface="Times New Roman" panose="02020603050405020304" pitchFamily="18" charset="0"/>
            </a:endParaRPr>
          </a:p>
          <a:p>
            <a:pPr>
              <a:lnSpc>
                <a:spcPct val="160000"/>
              </a:lnSpc>
            </a:pPr>
            <a:r>
              <a:rPr lang="en-GB" sz="1800" dirty="0">
                <a:effectLst/>
                <a:latin typeface="Bookman Old Style" panose="02050604050505020204" pitchFamily="18" charset="0"/>
                <a:ea typeface="Times New Roman" panose="02020603050405020304" pitchFamily="18" charset="0"/>
              </a:rPr>
              <a:t>₦</a:t>
            </a:r>
            <a:r>
              <a:rPr lang="en-US" sz="1800" dirty="0">
                <a:effectLst/>
                <a:latin typeface="Bookman Old Style" panose="02050604050505020204" pitchFamily="18" charset="0"/>
                <a:ea typeface="Times New Roman" panose="02020603050405020304" pitchFamily="18" charset="0"/>
              </a:rPr>
              <a:t>5</a:t>
            </a:r>
            <a:r>
              <a:rPr lang="en-US" dirty="0">
                <a:latin typeface="Bookman Old Style" panose="02050604050505020204" pitchFamily="18" charset="0"/>
                <a:ea typeface="Times New Roman" panose="02020603050405020304" pitchFamily="18" charset="0"/>
              </a:rPr>
              <a:t>51,000</a:t>
            </a:r>
            <a:r>
              <a:rPr lang="en-GB" sz="1800" dirty="0">
                <a:effectLst/>
                <a:latin typeface="Bookman Old Style" panose="02050604050505020204" pitchFamily="18" charset="0"/>
                <a:ea typeface="Times New Roman" panose="02020603050405020304" pitchFamily="18" charset="0"/>
              </a:rPr>
              <a:t> - ₦</a:t>
            </a:r>
            <a:r>
              <a:rPr lang="en-US" dirty="0">
                <a:latin typeface="Bookman Old Style" panose="02050604050505020204" pitchFamily="18" charset="0"/>
                <a:ea typeface="Times New Roman" panose="02020603050405020304" pitchFamily="18" charset="0"/>
              </a:rPr>
              <a:t>750,000</a:t>
            </a:r>
          </a:p>
          <a:p>
            <a:pPr>
              <a:lnSpc>
                <a:spcPct val="160000"/>
              </a:lnSpc>
            </a:pPr>
            <a:r>
              <a:rPr lang="en-GB" sz="1800" dirty="0">
                <a:effectLst/>
                <a:latin typeface="Bookman Old Style" panose="02050604050505020204" pitchFamily="18" charset="0"/>
                <a:ea typeface="Times New Roman" panose="02020603050405020304" pitchFamily="18" charset="0"/>
              </a:rPr>
              <a:t>Above ₦</a:t>
            </a:r>
            <a:r>
              <a:rPr lang="en-US" dirty="0">
                <a:latin typeface="Bookman Old Style" panose="02050604050505020204" pitchFamily="18" charset="0"/>
                <a:ea typeface="Times New Roman" panose="02020603050405020304" pitchFamily="18" charset="0"/>
              </a:rPr>
              <a:t>800,000</a:t>
            </a:r>
            <a:endParaRPr lang="en-GB" sz="1800" dirty="0">
              <a:effectLst/>
              <a:latin typeface="Bookman Old Style" panose="02050604050505020204" pitchFamily="18" charset="0"/>
              <a:ea typeface="Times New Roman" panose="02020603050405020304" pitchFamily="18" charset="0"/>
            </a:endParaRPr>
          </a:p>
          <a:p>
            <a:pPr>
              <a:lnSpc>
                <a:spcPct val="160000"/>
              </a:lnSpc>
            </a:pPr>
            <a:endParaRPr lang="en-GB" sz="1800" dirty="0">
              <a:effectLst/>
              <a:latin typeface="Bookman Old Style" panose="02050604050505020204" pitchFamily="18" charset="0"/>
              <a:ea typeface="Times New Roman" panose="02020603050405020304" pitchFamily="18" charset="0"/>
            </a:endParaRPr>
          </a:p>
          <a:p>
            <a:pPr>
              <a:lnSpc>
                <a:spcPct val="160000"/>
              </a:lnSpc>
            </a:pPr>
            <a:endParaRPr lang="en-GB" sz="1800" dirty="0">
              <a:effectLst/>
              <a:latin typeface="Bookman Old Style" panose="02050604050505020204" pitchFamily="18" charset="0"/>
              <a:ea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1410016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B92B1-A1E2-4E58-83F7-5480BC21A45E}"/>
              </a:ext>
            </a:extLst>
          </p:cNvPr>
          <p:cNvSpPr>
            <a:spLocks noGrp="1"/>
          </p:cNvSpPr>
          <p:nvPr>
            <p:ph type="title"/>
          </p:nvPr>
        </p:nvSpPr>
        <p:spPr/>
        <p:txBody>
          <a:bodyPr/>
          <a:lstStyle/>
          <a:p>
            <a:r>
              <a:rPr lang="en-US" sz="1800" dirty="0">
                <a:latin typeface="Copperplate Gothic Bold" panose="020E0705020206020404" pitchFamily="34" charset="0"/>
              </a:rPr>
              <a:t>Section 5: Business model preferences</a:t>
            </a:r>
            <a:endParaRPr lang="en-GB" sz="1800" dirty="0">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F4633F80-D3F6-41A9-81B8-6F7E7C4D39EA}"/>
              </a:ext>
            </a:extLst>
          </p:cNvPr>
          <p:cNvSpPr>
            <a:spLocks noGrp="1"/>
          </p:cNvSpPr>
          <p:nvPr>
            <p:ph sz="half" idx="1"/>
          </p:nvPr>
        </p:nvSpPr>
        <p:spPr>
          <a:xfrm>
            <a:off x="1206596" y="2477970"/>
            <a:ext cx="4825158" cy="3416301"/>
          </a:xfrm>
        </p:spPr>
        <p:txBody>
          <a:bodyPr>
            <a:normAutofit lnSpcReduction="10000"/>
          </a:bodyPr>
          <a:lstStyle/>
          <a:p>
            <a:pPr marL="0" indent="0">
              <a:buNone/>
            </a:pPr>
            <a:r>
              <a:rPr lang="en-GB" sz="1800" b="1" dirty="0">
                <a:effectLst/>
                <a:latin typeface="Bookman Old Style" panose="02050604050505020204" pitchFamily="18" charset="0"/>
                <a:ea typeface="Times New Roman" panose="02020603050405020304" pitchFamily="18" charset="0"/>
              </a:rPr>
              <a:t>Would you prefer shoppin</a:t>
            </a:r>
            <a:r>
              <a:rPr lang="en-GB" b="1" dirty="0">
                <a:latin typeface="Bookman Old Style" panose="02050604050505020204" pitchFamily="18" charset="0"/>
                <a:ea typeface="Times New Roman" panose="02020603050405020304" pitchFamily="18" charset="0"/>
              </a:rPr>
              <a:t>g </a:t>
            </a:r>
            <a:r>
              <a:rPr lang="en-GB" sz="1800" b="1" dirty="0">
                <a:effectLst/>
                <a:latin typeface="Bookman Old Style" panose="02050604050505020204" pitchFamily="18" charset="0"/>
                <a:ea typeface="Times New Roman" panose="02020603050405020304" pitchFamily="18" charset="0"/>
              </a:rPr>
              <a:t>online or at a physical store?</a:t>
            </a:r>
            <a:endParaRPr lang="en-GB" sz="1800" dirty="0">
              <a:effectLst/>
              <a:latin typeface="Bookman Old Style" panose="02050604050505020204" pitchFamily="18" charset="0"/>
              <a:ea typeface="Times New Roman" panose="02020603050405020304" pitchFamily="18" charset="0"/>
            </a:endParaRPr>
          </a:p>
          <a:p>
            <a:pPr>
              <a:lnSpc>
                <a:spcPct val="200000"/>
              </a:lnSpc>
            </a:pPr>
            <a:r>
              <a:rPr lang="en-GB" dirty="0">
                <a:latin typeface="Bookman Old Style" panose="02050604050505020204" pitchFamily="18" charset="0"/>
              </a:rPr>
              <a:t>I prefer to shop online</a:t>
            </a:r>
          </a:p>
          <a:p>
            <a:pPr>
              <a:lnSpc>
                <a:spcPct val="200000"/>
              </a:lnSpc>
            </a:pPr>
            <a:r>
              <a:rPr lang="en-GB" dirty="0">
                <a:latin typeface="Bookman Old Style" panose="02050604050505020204" pitchFamily="18" charset="0"/>
              </a:rPr>
              <a:t>I prefer to visit the physical store</a:t>
            </a:r>
          </a:p>
        </p:txBody>
      </p:sp>
      <p:sp>
        <p:nvSpPr>
          <p:cNvPr id="4" name="Content Placeholder 3">
            <a:extLst>
              <a:ext uri="{FF2B5EF4-FFF2-40B4-BE49-F238E27FC236}">
                <a16:creationId xmlns:a16="http://schemas.microsoft.com/office/drawing/2014/main" id="{A7715256-9630-4FB9-829C-70C3C9A776BB}"/>
              </a:ext>
            </a:extLst>
          </p:cNvPr>
          <p:cNvSpPr>
            <a:spLocks noGrp="1"/>
          </p:cNvSpPr>
          <p:nvPr>
            <p:ph sz="half" idx="2"/>
          </p:nvPr>
        </p:nvSpPr>
        <p:spPr>
          <a:xfrm>
            <a:off x="6248267" y="2477970"/>
            <a:ext cx="4737137" cy="3416301"/>
          </a:xfrm>
        </p:spPr>
        <p:txBody>
          <a:bodyPr>
            <a:normAutofit lnSpcReduction="10000"/>
          </a:bodyPr>
          <a:lstStyle/>
          <a:p>
            <a:pPr marL="0" indent="0">
              <a:buNone/>
            </a:pPr>
            <a:r>
              <a:rPr lang="en-GB" sz="1800" b="1" dirty="0">
                <a:effectLst/>
                <a:latin typeface="Bookman Old Style" panose="02050604050505020204" pitchFamily="18" charset="0"/>
                <a:ea typeface="Times New Roman" panose="02020603050405020304" pitchFamily="18" charset="0"/>
              </a:rPr>
              <a:t>If we open a </a:t>
            </a:r>
            <a:r>
              <a:rPr lang="en-GB" sz="1800" b="1" dirty="0" err="1">
                <a:effectLst/>
                <a:latin typeface="Bookman Old Style" panose="02050604050505020204" pitchFamily="18" charset="0"/>
                <a:ea typeface="Times New Roman" panose="02020603050405020304" pitchFamily="18" charset="0"/>
              </a:rPr>
              <a:t>jewelry</a:t>
            </a:r>
            <a:r>
              <a:rPr lang="en-GB" sz="1800" b="1" dirty="0">
                <a:effectLst/>
                <a:latin typeface="Bookman Old Style" panose="02050604050505020204" pitchFamily="18" charset="0"/>
                <a:ea typeface="Times New Roman" panose="02020603050405020304" pitchFamily="18" charset="0"/>
              </a:rPr>
              <a:t> boutique, what features would you like to experience?</a:t>
            </a:r>
          </a:p>
          <a:p>
            <a:pPr marL="0" indent="0">
              <a:buNone/>
            </a:pPr>
            <a:endParaRPr lang="en-GB" sz="1800" b="1" dirty="0">
              <a:effectLst/>
              <a:latin typeface="Bookman Old Style" panose="02050604050505020204" pitchFamily="18" charset="0"/>
              <a:ea typeface="Times New Roman" panose="02020603050405020304" pitchFamily="18" charset="0"/>
            </a:endParaRPr>
          </a:p>
          <a:p>
            <a:pPr>
              <a:lnSpc>
                <a:spcPct val="150000"/>
              </a:lnSpc>
            </a:pPr>
            <a:r>
              <a:rPr lang="en-GB" dirty="0">
                <a:latin typeface="Bookman Old Style" panose="02050604050505020204" pitchFamily="18" charset="0"/>
              </a:rPr>
              <a:t>Quality  </a:t>
            </a:r>
            <a:r>
              <a:rPr lang="en-GB" dirty="0" err="1">
                <a:latin typeface="Bookman Old Style" panose="02050604050505020204" pitchFamily="18" charset="0"/>
              </a:rPr>
              <a:t>jewelry</a:t>
            </a:r>
            <a:endParaRPr lang="en-GB" dirty="0">
              <a:latin typeface="Bookman Old Style" panose="02050604050505020204" pitchFamily="18" charset="0"/>
            </a:endParaRPr>
          </a:p>
          <a:p>
            <a:pPr>
              <a:lnSpc>
                <a:spcPct val="150000"/>
              </a:lnSpc>
            </a:pPr>
            <a:r>
              <a:rPr lang="en-GB" dirty="0">
                <a:latin typeface="Bookman Old Style" panose="02050604050505020204" pitchFamily="18" charset="0"/>
              </a:rPr>
              <a:t>Great customer services</a:t>
            </a:r>
          </a:p>
          <a:p>
            <a:pPr>
              <a:lnSpc>
                <a:spcPct val="150000"/>
              </a:lnSpc>
            </a:pPr>
            <a:r>
              <a:rPr lang="en-GB" dirty="0">
                <a:latin typeface="Bookman Old Style" panose="02050604050505020204" pitchFamily="18" charset="0"/>
              </a:rPr>
              <a:t>Affordable price</a:t>
            </a:r>
          </a:p>
          <a:p>
            <a:pPr>
              <a:lnSpc>
                <a:spcPct val="150000"/>
              </a:lnSpc>
            </a:pPr>
            <a:r>
              <a:rPr lang="en-GB" dirty="0">
                <a:latin typeface="Bookman Old Style" panose="02050604050505020204" pitchFamily="18" charset="0"/>
              </a:rPr>
              <a:t>Customer incentive</a:t>
            </a:r>
          </a:p>
          <a:p>
            <a:pPr>
              <a:lnSpc>
                <a:spcPct val="150000"/>
              </a:lnSpc>
            </a:pPr>
            <a:endParaRPr lang="en-GB" dirty="0"/>
          </a:p>
          <a:p>
            <a:pPr marL="0" indent="0">
              <a:buNone/>
            </a:pPr>
            <a:endParaRPr lang="en-GB" sz="1800" b="1" dirty="0">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26697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5A8DA-42C9-408E-A243-DEC5629AB590}"/>
              </a:ext>
            </a:extLst>
          </p:cNvPr>
          <p:cNvSpPr>
            <a:spLocks noGrp="1"/>
          </p:cNvSpPr>
          <p:nvPr>
            <p:ph type="title"/>
          </p:nvPr>
        </p:nvSpPr>
        <p:spPr>
          <a:xfrm>
            <a:off x="1486258" y="973667"/>
            <a:ext cx="8761413" cy="706964"/>
          </a:xfrm>
        </p:spPr>
        <p:txBody>
          <a:bodyPr/>
          <a:lstStyle/>
          <a:p>
            <a:r>
              <a:rPr lang="en-US" sz="1800" dirty="0">
                <a:latin typeface="Copperplate Gothic Bold" panose="020E0705020206020404" pitchFamily="34" charset="0"/>
              </a:rPr>
              <a:t>Section 5: Business model preferences</a:t>
            </a:r>
            <a:endParaRPr lang="en-GB" sz="1800" dirty="0"/>
          </a:p>
        </p:txBody>
      </p:sp>
      <p:sp>
        <p:nvSpPr>
          <p:cNvPr id="3" name="Content Placeholder 2">
            <a:extLst>
              <a:ext uri="{FF2B5EF4-FFF2-40B4-BE49-F238E27FC236}">
                <a16:creationId xmlns:a16="http://schemas.microsoft.com/office/drawing/2014/main" id="{97CDE036-EC53-4510-8609-B3EDF98C03D1}"/>
              </a:ext>
            </a:extLst>
          </p:cNvPr>
          <p:cNvSpPr>
            <a:spLocks noGrp="1"/>
          </p:cNvSpPr>
          <p:nvPr>
            <p:ph idx="1"/>
          </p:nvPr>
        </p:nvSpPr>
        <p:spPr/>
        <p:txBody>
          <a:bodyPr/>
          <a:lstStyle/>
          <a:p>
            <a:pPr marL="0" indent="0">
              <a:buNone/>
            </a:pPr>
            <a:r>
              <a:rPr lang="en-GB" b="1" dirty="0">
                <a:latin typeface="Bookman Old Style" panose="02050604050505020204" pitchFamily="18" charset="0"/>
                <a:ea typeface="Times New Roman" panose="02020603050405020304" pitchFamily="18" charset="0"/>
              </a:rPr>
              <a:t>On a scale </a:t>
            </a:r>
            <a:r>
              <a:rPr lang="en-GB" sz="1800" b="1" dirty="0">
                <a:effectLst/>
                <a:latin typeface="Bookman Old Style" panose="02050604050505020204" pitchFamily="18" charset="0"/>
                <a:ea typeface="Times New Roman" panose="02020603050405020304" pitchFamily="18" charset="0"/>
              </a:rPr>
              <a:t>of 1-5, how interested are you in visiting a new </a:t>
            </a:r>
            <a:r>
              <a:rPr lang="en-GB" sz="1800" b="1" dirty="0" err="1">
                <a:effectLst/>
                <a:latin typeface="Bookman Old Style" panose="02050604050505020204" pitchFamily="18" charset="0"/>
                <a:ea typeface="Times New Roman" panose="02020603050405020304" pitchFamily="18" charset="0"/>
              </a:rPr>
              <a:t>jewelry</a:t>
            </a:r>
            <a:r>
              <a:rPr lang="en-GB" sz="1800" b="1" dirty="0">
                <a:effectLst/>
                <a:latin typeface="Bookman Old Style" panose="02050604050505020204" pitchFamily="18" charset="0"/>
                <a:ea typeface="Times New Roman" panose="02020603050405020304" pitchFamily="18" charset="0"/>
              </a:rPr>
              <a:t> boutique in </a:t>
            </a:r>
            <a:r>
              <a:rPr lang="en-GB" sz="1800" b="1" dirty="0" err="1">
                <a:effectLst/>
                <a:latin typeface="Bookman Old Style" panose="02050604050505020204" pitchFamily="18" charset="0"/>
                <a:ea typeface="Times New Roman" panose="02020603050405020304" pitchFamily="18" charset="0"/>
              </a:rPr>
              <a:t>Wuse</a:t>
            </a:r>
            <a:r>
              <a:rPr lang="en-GB" sz="1800" b="1" dirty="0">
                <a:effectLst/>
                <a:latin typeface="Bookman Old Style" panose="02050604050505020204" pitchFamily="18" charset="0"/>
                <a:ea typeface="Times New Roman" panose="02020603050405020304" pitchFamily="18" charset="0"/>
              </a:rPr>
              <a:t>, Abuja?</a:t>
            </a:r>
            <a:endParaRPr lang="en-GB" sz="1800" dirty="0">
              <a:effectLst/>
              <a:latin typeface="Bookman Old Style" panose="02050604050505020204" pitchFamily="18" charset="0"/>
              <a:ea typeface="Times New Roman" panose="02020603050405020304" pitchFamily="18" charset="0"/>
            </a:endParaRPr>
          </a:p>
          <a:p>
            <a:r>
              <a:rPr lang="en-GB" sz="1800" dirty="0">
                <a:effectLst/>
                <a:latin typeface="Bookman Old Style" panose="02050604050505020204" pitchFamily="18" charset="0"/>
                <a:ea typeface="Times New Roman" panose="02020603050405020304" pitchFamily="18" charset="0"/>
              </a:rPr>
              <a:t>1 – Not Interested</a:t>
            </a:r>
          </a:p>
          <a:p>
            <a:r>
              <a:rPr lang="en-GB" sz="1800" dirty="0">
                <a:effectLst/>
                <a:latin typeface="Bookman Old Style" panose="02050604050505020204" pitchFamily="18" charset="0"/>
                <a:ea typeface="Calibri" panose="020F0502020204030204" pitchFamily="34" charset="0"/>
              </a:rPr>
              <a:t>2 – Slightly Interested</a:t>
            </a:r>
          </a:p>
          <a:p>
            <a:r>
              <a:rPr lang="en-GB" sz="1800" dirty="0">
                <a:effectLst/>
                <a:latin typeface="Bookman Old Style" panose="02050604050505020204" pitchFamily="18" charset="0"/>
                <a:ea typeface="Times New Roman" panose="02020603050405020304" pitchFamily="18" charset="0"/>
              </a:rPr>
              <a:t>3 – Neutral</a:t>
            </a:r>
          </a:p>
          <a:p>
            <a:r>
              <a:rPr lang="en-GB" sz="1800" dirty="0">
                <a:effectLst/>
                <a:latin typeface="Bookman Old Style" panose="02050604050505020204" pitchFamily="18" charset="0"/>
                <a:ea typeface="Times New Roman" panose="02020603050405020304" pitchFamily="18" charset="0"/>
              </a:rPr>
              <a:t>4 – Interested</a:t>
            </a:r>
          </a:p>
          <a:p>
            <a:r>
              <a:rPr lang="en-GB" sz="1800" dirty="0">
                <a:effectLst/>
                <a:latin typeface="Bookman Old Style" panose="02050604050505020204" pitchFamily="18" charset="0"/>
                <a:ea typeface="Times New Roman" panose="02020603050405020304" pitchFamily="18" charset="0"/>
              </a:rPr>
              <a:t>5 – Very Interested</a:t>
            </a:r>
          </a:p>
          <a:p>
            <a:endParaRPr lang="en-GB" dirty="0"/>
          </a:p>
        </p:txBody>
      </p:sp>
    </p:spTree>
    <p:extLst>
      <p:ext uri="{BB962C8B-B14F-4D97-AF65-F5344CB8AC3E}">
        <p14:creationId xmlns:p14="http://schemas.microsoft.com/office/powerpoint/2010/main" val="3548670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507E81-F3A8-4134-AA5F-A74E1F6DF0B4}"/>
              </a:ext>
            </a:extLst>
          </p:cNvPr>
          <p:cNvSpPr txBox="1"/>
          <p:nvPr/>
        </p:nvSpPr>
        <p:spPr>
          <a:xfrm>
            <a:off x="1252330" y="964096"/>
            <a:ext cx="10104783" cy="1457130"/>
          </a:xfrm>
          <a:prstGeom prst="rect">
            <a:avLst/>
          </a:prstGeom>
          <a:noFill/>
        </p:spPr>
        <p:txBody>
          <a:bodyPr wrap="square" rtlCol="0">
            <a:spAutoFit/>
          </a:bodyPr>
          <a:lstStyle/>
          <a:p>
            <a:pPr>
              <a:lnSpc>
                <a:spcPct val="200000"/>
              </a:lnSpc>
              <a:spcBef>
                <a:spcPts val="800"/>
              </a:spcBef>
              <a:spcAft>
                <a:spcPts val="400"/>
              </a:spcAft>
            </a:pPr>
            <a:r>
              <a:rPr lang="en-US" sz="2400">
                <a:effectLst/>
                <a:latin typeface="Times New Roman" panose="02020603050405020304" pitchFamily="18" charset="0"/>
                <a:ea typeface="Times New Roman" panose="02020603050405020304" pitchFamily="18" charset="0"/>
              </a:rPr>
              <a:t>Thank you for your participation! Your responses will help us create a better shopping experience.</a:t>
            </a:r>
            <a:endParaRPr lang="en-GB"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69140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9D78-E90B-43DE-B07E-BF6404AF72D9}"/>
              </a:ext>
            </a:extLst>
          </p:cNvPr>
          <p:cNvSpPr>
            <a:spLocks noGrp="1"/>
          </p:cNvSpPr>
          <p:nvPr>
            <p:ph type="title"/>
          </p:nvPr>
        </p:nvSpPr>
        <p:spPr>
          <a:xfrm>
            <a:off x="1154953" y="2105623"/>
            <a:ext cx="8825660" cy="1822514"/>
          </a:xfrm>
        </p:spPr>
        <p:txBody>
          <a:bodyPr/>
          <a:lstStyle/>
          <a:p>
            <a:r>
              <a:rPr lang="en-US" b="1" dirty="0"/>
              <a:t>ANALYSIS REPORT FOR MARKET SURVEY</a:t>
            </a:r>
            <a:endParaRPr lang="en-GB" b="1" dirty="0"/>
          </a:p>
        </p:txBody>
      </p:sp>
      <p:sp>
        <p:nvSpPr>
          <p:cNvPr id="3" name="Text Placeholder 2">
            <a:extLst>
              <a:ext uri="{FF2B5EF4-FFF2-40B4-BE49-F238E27FC236}">
                <a16:creationId xmlns:a16="http://schemas.microsoft.com/office/drawing/2014/main" id="{74E41983-DB57-4730-A634-9A581AD7DE79}"/>
              </a:ext>
            </a:extLst>
          </p:cNvPr>
          <p:cNvSpPr>
            <a:spLocks noGrp="1"/>
          </p:cNvSpPr>
          <p:nvPr>
            <p:ph type="body" idx="1"/>
          </p:nvPr>
        </p:nvSpPr>
        <p:spPr/>
        <p:txBody>
          <a:bodyPr/>
          <a:lstStyle/>
          <a:p>
            <a:r>
              <a:rPr lang="en-US" b="1" dirty="0"/>
              <a:t>JEWELRY BOUTIQUE IN WUSE, ABUJA</a:t>
            </a:r>
            <a:endParaRPr lang="en-GB" b="1" dirty="0"/>
          </a:p>
        </p:txBody>
      </p:sp>
    </p:spTree>
    <p:extLst>
      <p:ext uri="{BB962C8B-B14F-4D97-AF65-F5344CB8AC3E}">
        <p14:creationId xmlns:p14="http://schemas.microsoft.com/office/powerpoint/2010/main" val="2721576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2126-938B-4364-A90A-C51AE0634ACE}"/>
              </a:ext>
            </a:extLst>
          </p:cNvPr>
          <p:cNvSpPr>
            <a:spLocks noGrp="1"/>
          </p:cNvSpPr>
          <p:nvPr>
            <p:ph type="title"/>
          </p:nvPr>
        </p:nvSpPr>
        <p:spPr/>
        <p:txBody>
          <a:bodyPr/>
          <a:lstStyle/>
          <a:p>
            <a:r>
              <a:rPr lang="en-US" dirty="0"/>
              <a:t>INTRODUCTION</a:t>
            </a:r>
            <a:endParaRPr lang="en-GB" dirty="0"/>
          </a:p>
        </p:txBody>
      </p:sp>
      <p:sp>
        <p:nvSpPr>
          <p:cNvPr id="3" name="TextBox 2">
            <a:extLst>
              <a:ext uri="{FF2B5EF4-FFF2-40B4-BE49-F238E27FC236}">
                <a16:creationId xmlns:a16="http://schemas.microsoft.com/office/drawing/2014/main" id="{50CA0E4C-7BF2-4109-9218-87DDD0B7BBE2}"/>
              </a:ext>
            </a:extLst>
          </p:cNvPr>
          <p:cNvSpPr txBox="1"/>
          <p:nvPr/>
        </p:nvSpPr>
        <p:spPr>
          <a:xfrm>
            <a:off x="1345095" y="3180521"/>
            <a:ext cx="9501809" cy="2204899"/>
          </a:xfrm>
          <a:prstGeom prst="rect">
            <a:avLst/>
          </a:prstGeom>
          <a:noFill/>
        </p:spPr>
        <p:txBody>
          <a:bodyPr wrap="square" rtlCol="0">
            <a:spAutoFit/>
          </a:bodyPr>
          <a:lstStyle/>
          <a:p>
            <a:pPr>
              <a:lnSpc>
                <a:spcPct val="200000"/>
              </a:lnSpc>
            </a:pPr>
            <a:r>
              <a:rPr lang="en-US" sz="2400" dirty="0">
                <a:latin typeface="Constantia" panose="02030602050306030303" pitchFamily="18" charset="0"/>
              </a:rPr>
              <a:t>After successfully conducting a market survey for our jewelry boutique, this report is to uncover the</a:t>
            </a:r>
            <a:r>
              <a:rPr lang="en-US" sz="2400" b="1" dirty="0">
                <a:latin typeface="Constantia" panose="02030602050306030303" pitchFamily="18" charset="0"/>
                <a:cs typeface="MV Boli" panose="02000500030200090000" pitchFamily="2" charset="0"/>
              </a:rPr>
              <a:t> </a:t>
            </a:r>
            <a:r>
              <a:rPr lang="en-US" sz="2400" dirty="0">
                <a:latin typeface="Constantia" panose="02030602050306030303" pitchFamily="18" charset="0"/>
                <a:cs typeface="MV Boli" panose="02000500030200090000" pitchFamily="2" charset="0"/>
              </a:rPr>
              <a:t>feasibility of opening a jewelry boutique in </a:t>
            </a:r>
            <a:r>
              <a:rPr lang="en-US" sz="2400" dirty="0" err="1">
                <a:latin typeface="Constantia" panose="02030602050306030303" pitchFamily="18" charset="0"/>
                <a:cs typeface="MV Boli" panose="02000500030200090000" pitchFamily="2" charset="0"/>
              </a:rPr>
              <a:t>Wuse</a:t>
            </a:r>
            <a:r>
              <a:rPr lang="en-US" sz="2400" dirty="0">
                <a:latin typeface="Constantia" panose="02030602050306030303" pitchFamily="18" charset="0"/>
                <a:cs typeface="MV Boli" panose="02000500030200090000" pitchFamily="2" charset="0"/>
              </a:rPr>
              <a:t>, Abuja.</a:t>
            </a:r>
            <a:endParaRPr lang="en-GB" sz="2400" dirty="0">
              <a:latin typeface="Constantia" panose="02030602050306030303" pitchFamily="18" charset="0"/>
            </a:endParaRPr>
          </a:p>
        </p:txBody>
      </p:sp>
    </p:spTree>
    <p:extLst>
      <p:ext uri="{BB962C8B-B14F-4D97-AF65-F5344CB8AC3E}">
        <p14:creationId xmlns:p14="http://schemas.microsoft.com/office/powerpoint/2010/main" val="3309768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76D7-2491-4819-9107-CF68C8CFD711}"/>
              </a:ext>
            </a:extLst>
          </p:cNvPr>
          <p:cNvSpPr>
            <a:spLocks noGrp="1"/>
          </p:cNvSpPr>
          <p:nvPr>
            <p:ph type="title"/>
          </p:nvPr>
        </p:nvSpPr>
        <p:spPr/>
        <p:txBody>
          <a:bodyPr/>
          <a:lstStyle/>
          <a:p>
            <a:r>
              <a:rPr lang="en-GB" kern="100" dirty="0">
                <a:latin typeface="Copperplate Gothic Bold" panose="020E0705020206020404" pitchFamily="34" charset="0"/>
                <a:ea typeface="Calibri" panose="020F0502020204030204" pitchFamily="34" charset="0"/>
                <a:cs typeface="Times New Roman" panose="02020603050405020304" pitchFamily="18" charset="0"/>
              </a:rPr>
              <a:t>Objective</a:t>
            </a:r>
            <a:endParaRPr lang="en-GB" dirty="0">
              <a:latin typeface="Copperplate Gothic Bold" panose="020E0705020206020404" pitchFamily="34" charset="0"/>
            </a:endParaRPr>
          </a:p>
        </p:txBody>
      </p:sp>
      <p:sp>
        <p:nvSpPr>
          <p:cNvPr id="3" name="Content Placeholder 2">
            <a:extLst>
              <a:ext uri="{FF2B5EF4-FFF2-40B4-BE49-F238E27FC236}">
                <a16:creationId xmlns:a16="http://schemas.microsoft.com/office/drawing/2014/main" id="{736D7AD5-1058-44FC-8D15-72BCB46CE77E}"/>
              </a:ext>
            </a:extLst>
          </p:cNvPr>
          <p:cNvSpPr>
            <a:spLocks noGrp="1"/>
          </p:cNvSpPr>
          <p:nvPr>
            <p:ph idx="1"/>
          </p:nvPr>
        </p:nvSpPr>
        <p:spPr>
          <a:xfrm>
            <a:off x="1154954" y="2282024"/>
            <a:ext cx="9472246" cy="3713872"/>
          </a:xfrm>
        </p:spPr>
        <p:txBody>
          <a:bodyPr>
            <a:normAutofit fontScale="55000" lnSpcReduction="20000"/>
          </a:bodyPr>
          <a:lstStyle/>
          <a:p>
            <a:pPr marL="400050" lvl="1" indent="0">
              <a:lnSpc>
                <a:spcPct val="200000"/>
              </a:lnSpc>
              <a:buNone/>
            </a:pPr>
            <a:endParaRPr lang="en-US" dirty="0">
              <a:latin typeface="Lucida Fax" panose="02060602050505020204" pitchFamily="18" charset="0"/>
            </a:endParaRP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Market Demand: Determine if there is need of a </a:t>
            </a:r>
            <a:r>
              <a:rPr lang="en-GB" sz="2700" kern="100" dirty="0" err="1">
                <a:latin typeface="Bookman Old Style" panose="02050604050505020204" pitchFamily="18" charset="0"/>
                <a:ea typeface="Calibri" panose="020F0502020204030204" pitchFamily="34" charset="0"/>
                <a:cs typeface="Times New Roman" panose="02020603050405020304" pitchFamily="18" charset="0"/>
              </a:rPr>
              <a:t>j</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ewelry</a:t>
            </a: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 boutique in </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wuse</a:t>
            </a:r>
            <a:r>
              <a:rPr lang="en-GB" sz="2700" kern="100" dirty="0">
                <a:latin typeface="Bookman Old Style" panose="02050604050505020204" pitchFamily="18" charset="0"/>
                <a:ea typeface="Calibri" panose="020F0502020204030204" pitchFamily="34" charset="0"/>
                <a:cs typeface="Times New Roman" panose="02020603050405020304" pitchFamily="18" charset="0"/>
              </a:rPr>
              <a:t>.</a:t>
            </a:r>
            <a:endParaRPr lang="en-GB" sz="2700" kern="100" dirty="0">
              <a:effectLst/>
              <a:latin typeface="Bookman Old Style" panose="02050604050505020204" pitchFamily="18" charset="0"/>
              <a:ea typeface="Calibri" panose="020F0502020204030204" pitchFamily="34" charset="0"/>
              <a:cs typeface="Times New Roman" panose="02020603050405020304" pitchFamily="18" charset="0"/>
            </a:endParaRPr>
          </a:p>
          <a:p>
            <a:pPr lvl="2">
              <a:lnSpc>
                <a:spcPct val="320000"/>
              </a:lnSpc>
            </a:pPr>
            <a:r>
              <a:rPr lang="en-GB" sz="2700" dirty="0">
                <a:latin typeface="Bookman Old Style" panose="02050604050505020204" pitchFamily="18" charset="0"/>
                <a:ea typeface="Calibri" panose="020F0502020204030204" pitchFamily="34" charset="0"/>
              </a:rPr>
              <a:t>C</a:t>
            </a:r>
            <a:r>
              <a:rPr lang="en-GB" sz="2700" dirty="0">
                <a:effectLst/>
                <a:latin typeface="Bookman Old Style" panose="02050604050505020204" pitchFamily="18" charset="0"/>
                <a:ea typeface="Calibri" panose="020F0502020204030204" pitchFamily="34" charset="0"/>
              </a:rPr>
              <a:t>onsumer Preference: Identify the type of </a:t>
            </a:r>
            <a:r>
              <a:rPr lang="en-GB" sz="2700" dirty="0" err="1">
                <a:effectLst/>
                <a:latin typeface="Bookman Old Style" panose="02050604050505020204" pitchFamily="18" charset="0"/>
                <a:ea typeface="Calibri" panose="020F0502020204030204" pitchFamily="34" charset="0"/>
              </a:rPr>
              <a:t>jewelry</a:t>
            </a:r>
            <a:r>
              <a:rPr lang="en-GB" sz="2700" dirty="0">
                <a:effectLst/>
                <a:latin typeface="Bookman Old Style" panose="02050604050505020204" pitchFamily="18" charset="0"/>
                <a:ea typeface="Calibri" panose="020F0502020204030204" pitchFamily="34" charset="0"/>
              </a:rPr>
              <a:t> piece people prefer.</a:t>
            </a: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Pricing Strategy: Find out how much customers are willing spend on a </a:t>
            </a:r>
            <a:r>
              <a:rPr lang="en-GB" sz="2700" kern="100" dirty="0" err="1">
                <a:effectLst/>
                <a:latin typeface="Bookman Old Style" panose="02050604050505020204" pitchFamily="18" charset="0"/>
                <a:ea typeface="Calibri" panose="020F0502020204030204" pitchFamily="34" charset="0"/>
                <a:cs typeface="Times New Roman" panose="02020603050405020304" pitchFamily="18" charset="0"/>
              </a:rPr>
              <a:t>jewelry</a:t>
            </a: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lvl="2">
              <a:lnSpc>
                <a:spcPct val="320000"/>
              </a:lnSpc>
            </a:pPr>
            <a:r>
              <a:rPr lang="en-GB" sz="2700" kern="100" dirty="0">
                <a:effectLst/>
                <a:latin typeface="Bookman Old Style" panose="02050604050505020204" pitchFamily="18" charset="0"/>
                <a:ea typeface="Calibri" panose="020F0502020204030204" pitchFamily="34" charset="0"/>
                <a:cs typeface="Times New Roman" panose="02020603050405020304" pitchFamily="18" charset="0"/>
              </a:rPr>
              <a:t>Business model: Determine if customers prefer order online or visit physical store</a:t>
            </a:r>
            <a:r>
              <a:rPr lang="en-GB" sz="2300" kern="100" dirty="0">
                <a:effectLst/>
                <a:latin typeface="Bookman Old Style" panose="02050604050505020204" pitchFamily="18" charset="0"/>
                <a:ea typeface="Calibri" panose="020F0502020204030204" pitchFamily="34" charset="0"/>
                <a:cs typeface="Times New Roman" panose="02020603050405020304" pitchFamily="18" charset="0"/>
              </a:rPr>
              <a:t>.</a:t>
            </a:r>
          </a:p>
          <a:p>
            <a:pPr>
              <a:lnSpc>
                <a:spcPct val="320000"/>
              </a:lnSpc>
            </a:pPr>
            <a:endParaRPr lang="en-GB" sz="2500" kern="100" dirty="0">
              <a:effectLst/>
              <a:latin typeface="Bookman Old Style" panose="02050604050505020204" pitchFamily="18" charset="0"/>
              <a:ea typeface="Calibri" panose="020F0502020204030204" pitchFamily="34" charset="0"/>
              <a:cs typeface="Times New Roman" panose="02020603050405020304" pitchFamily="18" charset="0"/>
            </a:endParaRPr>
          </a:p>
          <a:p>
            <a:endParaRPr lang="en-GB" dirty="0">
              <a:latin typeface="Lucida Fax" panose="02060602050505020204" pitchFamily="18" charset="0"/>
            </a:endParaRPr>
          </a:p>
        </p:txBody>
      </p:sp>
    </p:spTree>
    <p:extLst>
      <p:ext uri="{BB962C8B-B14F-4D97-AF65-F5344CB8AC3E}">
        <p14:creationId xmlns:p14="http://schemas.microsoft.com/office/powerpoint/2010/main" val="2096651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D8FE94-7EDE-45EF-A0FF-F0581978D927}"/>
              </a:ext>
            </a:extLst>
          </p:cNvPr>
          <p:cNvSpPr txBox="1"/>
          <p:nvPr/>
        </p:nvSpPr>
        <p:spPr>
          <a:xfrm>
            <a:off x="284922" y="1564602"/>
            <a:ext cx="11436626" cy="5139869"/>
          </a:xfrm>
          <a:prstGeom prst="rect">
            <a:avLst/>
          </a:prstGeom>
          <a:noFill/>
        </p:spPr>
        <p:txBody>
          <a:bodyPr wrap="square">
            <a:spAutoFit/>
          </a:bodyPr>
          <a:lstStyle/>
          <a:p>
            <a:endParaRPr lang="en-US" sz="2000" dirty="0">
              <a:latin typeface="Bookman Old Style" panose="02050604050505020204" pitchFamily="18" charset="0"/>
              <a:cs typeface="MV Boli" panose="02000500030200090000" pitchFamily="2" charset="0"/>
            </a:endParaRPr>
          </a:p>
          <a:p>
            <a:pPr marL="800100" lvl="1" indent="-342900">
              <a:lnSpc>
                <a:spcPct val="200000"/>
              </a:lnSpc>
              <a:buFont typeface="Wingdings" panose="05000000000000000000" pitchFamily="2" charset="2"/>
              <a:buChar char="q"/>
            </a:pPr>
            <a:r>
              <a:rPr lang="en-US" sz="2000" dirty="0">
                <a:latin typeface="Bookman Old Style" panose="02050604050505020204" pitchFamily="18" charset="0"/>
                <a:cs typeface="MV Boli" panose="02000500030200090000" pitchFamily="2" charset="0"/>
              </a:rPr>
              <a:t>Measures of central tendency: This was used to describe my numerical data such as price and interest question (Mean, Median, Standard deviation).</a:t>
            </a:r>
          </a:p>
          <a:p>
            <a:pPr marL="800100" lvl="1" indent="-342900">
              <a:lnSpc>
                <a:spcPct val="200000"/>
              </a:lnSpc>
              <a:buFont typeface="Wingdings" panose="05000000000000000000" pitchFamily="2" charset="2"/>
              <a:buChar char="q"/>
            </a:pPr>
            <a:r>
              <a:rPr lang="en-US" sz="2000" dirty="0">
                <a:latin typeface="Bookman Old Style" panose="02050604050505020204" pitchFamily="18" charset="0"/>
                <a:cs typeface="MV Boli" panose="02000500030200090000" pitchFamily="2" charset="0"/>
              </a:rPr>
              <a:t>Measure of Frequency: This was used to describe my categorical data such as age group, Gender, etc.</a:t>
            </a:r>
          </a:p>
          <a:p>
            <a:pPr marL="800100" lvl="1" indent="-342900">
              <a:lnSpc>
                <a:spcPct val="200000"/>
              </a:lnSpc>
              <a:buFont typeface="Wingdings" panose="05000000000000000000" pitchFamily="2" charset="2"/>
              <a:buChar char="q"/>
            </a:pPr>
            <a:r>
              <a:rPr lang="en-US" sz="2000" dirty="0">
                <a:latin typeface="Bookman Old Style" panose="02050604050505020204" pitchFamily="18" charset="0"/>
                <a:cs typeface="MV Boli" panose="02000500030200090000" pitchFamily="2" charset="0"/>
              </a:rPr>
              <a:t>Chi Square: This was used to find relationships between the variable within the objectives and demographic information</a:t>
            </a:r>
          </a:p>
          <a:p>
            <a:pPr marL="800100" lvl="1" indent="-342900">
              <a:lnSpc>
                <a:spcPct val="200000"/>
              </a:lnSpc>
              <a:buFont typeface="Wingdings" panose="05000000000000000000" pitchFamily="2" charset="2"/>
              <a:buChar char="q"/>
            </a:pPr>
            <a:r>
              <a:rPr lang="en-GB" sz="2000" dirty="0">
                <a:effectLst/>
                <a:latin typeface="Calibri" panose="020F0502020204030204" pitchFamily="34" charset="0"/>
                <a:ea typeface="Calibri" panose="020F0502020204030204" pitchFamily="34" charset="0"/>
                <a:cs typeface="Times New Roman" panose="02020603050405020304" pitchFamily="18" charset="0"/>
              </a:rPr>
              <a:t>Mann Whitney </a:t>
            </a:r>
            <a:r>
              <a:rPr lang="en-US" sz="2000" dirty="0">
                <a:latin typeface="Bookman Old Style" panose="02050604050505020204" pitchFamily="18" charset="0"/>
                <a:cs typeface="MV Boli" panose="02000500030200090000" pitchFamily="2" charset="0"/>
              </a:rPr>
              <a:t>: This was used to know the difference in price preference by gender</a:t>
            </a:r>
          </a:p>
          <a:p>
            <a:pPr lvl="1"/>
            <a:endParaRPr lang="en-GB" sz="2800" dirty="0">
              <a:latin typeface="Bookman Old Style" panose="02050604050505020204" pitchFamily="18" charset="0"/>
            </a:endParaRPr>
          </a:p>
        </p:txBody>
      </p:sp>
      <p:sp>
        <p:nvSpPr>
          <p:cNvPr id="4" name="TextBox 3">
            <a:extLst>
              <a:ext uri="{FF2B5EF4-FFF2-40B4-BE49-F238E27FC236}">
                <a16:creationId xmlns:a16="http://schemas.microsoft.com/office/drawing/2014/main" id="{C6C13711-4919-49A8-B2BB-E1B5ACF10B40}"/>
              </a:ext>
            </a:extLst>
          </p:cNvPr>
          <p:cNvSpPr txBox="1"/>
          <p:nvPr/>
        </p:nvSpPr>
        <p:spPr>
          <a:xfrm>
            <a:off x="2498034" y="954156"/>
            <a:ext cx="7195932" cy="954107"/>
          </a:xfrm>
          <a:prstGeom prst="rect">
            <a:avLst/>
          </a:prstGeom>
          <a:noFill/>
        </p:spPr>
        <p:txBody>
          <a:bodyPr wrap="square" rtlCol="0">
            <a:spAutoFit/>
          </a:bodyPr>
          <a:lstStyle/>
          <a:p>
            <a:r>
              <a:rPr lang="en-US" sz="2800" b="1" dirty="0">
                <a:latin typeface="Arial Rounded MT Bold" panose="020F0704030504030204" pitchFamily="34" charset="0"/>
              </a:rPr>
              <a:t>Method &amp; </a:t>
            </a:r>
            <a:r>
              <a:rPr lang="en-US" sz="2800" b="1" dirty="0">
                <a:latin typeface="Arial Rounded MT Bold" panose="020F0704030504030204" pitchFamily="34" charset="0"/>
                <a:cs typeface="MV Boli" panose="02000500030200090000" pitchFamily="2" charset="0"/>
              </a:rPr>
              <a:t>Statistical techniques used</a:t>
            </a:r>
          </a:p>
          <a:p>
            <a:r>
              <a:rPr lang="en-US" sz="2800" dirty="0"/>
              <a:t> </a:t>
            </a:r>
            <a:endParaRPr lang="en-GB" sz="2800" dirty="0"/>
          </a:p>
        </p:txBody>
      </p:sp>
    </p:spTree>
    <p:extLst>
      <p:ext uri="{BB962C8B-B14F-4D97-AF65-F5344CB8AC3E}">
        <p14:creationId xmlns:p14="http://schemas.microsoft.com/office/powerpoint/2010/main" val="649313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AEFC3-90EF-4C8C-B9D0-142A879C47EC}"/>
              </a:ext>
            </a:extLst>
          </p:cNvPr>
          <p:cNvSpPr>
            <a:spLocks noGrp="1"/>
          </p:cNvSpPr>
          <p:nvPr>
            <p:ph type="title"/>
          </p:nvPr>
        </p:nvSpPr>
        <p:spPr/>
        <p:txBody>
          <a:bodyPr/>
          <a:lstStyle/>
          <a:p>
            <a:r>
              <a:rPr lang="en-US" dirty="0">
                <a:latin typeface="Copperplate Gothic Bold" panose="020E0705020206020404" pitchFamily="34" charset="0"/>
              </a:rPr>
              <a:t>RESULT</a:t>
            </a:r>
            <a:endParaRPr lang="en-GB" dirty="0">
              <a:latin typeface="Copperplate Gothic Bold" panose="020E0705020206020404" pitchFamily="34" charset="0"/>
            </a:endParaRPr>
          </a:p>
        </p:txBody>
      </p:sp>
      <p:sp>
        <p:nvSpPr>
          <p:cNvPr id="3" name="Rectangle 2">
            <a:extLst>
              <a:ext uri="{FF2B5EF4-FFF2-40B4-BE49-F238E27FC236}">
                <a16:creationId xmlns:a16="http://schemas.microsoft.com/office/drawing/2014/main" id="{5075159E-BD4B-418A-9AAD-54DD0E986AF3}"/>
              </a:ext>
            </a:extLst>
          </p:cNvPr>
          <p:cNvSpPr/>
          <p:nvPr/>
        </p:nvSpPr>
        <p:spPr>
          <a:xfrm>
            <a:off x="1186066" y="2884372"/>
            <a:ext cx="2080591" cy="1563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311D396F-796D-4ED0-8C7C-EC531398B45F}"/>
              </a:ext>
            </a:extLst>
          </p:cNvPr>
          <p:cNvSpPr/>
          <p:nvPr/>
        </p:nvSpPr>
        <p:spPr>
          <a:xfrm>
            <a:off x="4863547" y="2884372"/>
            <a:ext cx="2080591" cy="15637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26EE80D2-92EB-42A7-85F4-022C0E0071F1}"/>
              </a:ext>
            </a:extLst>
          </p:cNvPr>
          <p:cNvSpPr/>
          <p:nvPr/>
        </p:nvSpPr>
        <p:spPr>
          <a:xfrm>
            <a:off x="8425071" y="2920480"/>
            <a:ext cx="2080591" cy="1563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5815B86A-E2BE-42D5-BB86-0F9074A407F9}"/>
              </a:ext>
            </a:extLst>
          </p:cNvPr>
          <p:cNvSpPr txBox="1"/>
          <p:nvPr/>
        </p:nvSpPr>
        <p:spPr>
          <a:xfrm>
            <a:off x="1567068" y="2345636"/>
            <a:ext cx="1318589" cy="369332"/>
          </a:xfrm>
          <a:prstGeom prst="rect">
            <a:avLst/>
          </a:prstGeom>
          <a:noFill/>
        </p:spPr>
        <p:txBody>
          <a:bodyPr wrap="square" rtlCol="0">
            <a:spAutoFit/>
          </a:bodyPr>
          <a:lstStyle/>
          <a:p>
            <a:r>
              <a:rPr lang="en-US" b="1" dirty="0"/>
              <a:t>AGE</a:t>
            </a:r>
            <a:endParaRPr lang="en-GB" b="1" dirty="0"/>
          </a:p>
        </p:txBody>
      </p:sp>
      <p:sp>
        <p:nvSpPr>
          <p:cNvPr id="9" name="TextBox 8">
            <a:extLst>
              <a:ext uri="{FF2B5EF4-FFF2-40B4-BE49-F238E27FC236}">
                <a16:creationId xmlns:a16="http://schemas.microsoft.com/office/drawing/2014/main" id="{8B2132D4-A119-4B7F-AC7B-4F088412D8AE}"/>
              </a:ext>
            </a:extLst>
          </p:cNvPr>
          <p:cNvSpPr txBox="1"/>
          <p:nvPr/>
        </p:nvSpPr>
        <p:spPr>
          <a:xfrm>
            <a:off x="8895525" y="2345636"/>
            <a:ext cx="1484241" cy="369332"/>
          </a:xfrm>
          <a:prstGeom prst="rect">
            <a:avLst/>
          </a:prstGeom>
          <a:noFill/>
        </p:spPr>
        <p:txBody>
          <a:bodyPr wrap="square" rtlCol="0">
            <a:spAutoFit/>
          </a:bodyPr>
          <a:lstStyle/>
          <a:p>
            <a:r>
              <a:rPr lang="en-US" b="1" dirty="0"/>
              <a:t>LOCATION</a:t>
            </a:r>
            <a:endParaRPr lang="en-GB" b="1" dirty="0"/>
          </a:p>
        </p:txBody>
      </p:sp>
      <p:sp>
        <p:nvSpPr>
          <p:cNvPr id="10" name="TextBox 9">
            <a:extLst>
              <a:ext uri="{FF2B5EF4-FFF2-40B4-BE49-F238E27FC236}">
                <a16:creationId xmlns:a16="http://schemas.microsoft.com/office/drawing/2014/main" id="{4BD3B363-E407-4AEE-9424-7149F6F8D4E8}"/>
              </a:ext>
            </a:extLst>
          </p:cNvPr>
          <p:cNvSpPr txBox="1"/>
          <p:nvPr/>
        </p:nvSpPr>
        <p:spPr>
          <a:xfrm>
            <a:off x="5436705" y="2345636"/>
            <a:ext cx="1318589" cy="369332"/>
          </a:xfrm>
          <a:prstGeom prst="rect">
            <a:avLst/>
          </a:prstGeom>
          <a:noFill/>
        </p:spPr>
        <p:txBody>
          <a:bodyPr wrap="square" rtlCol="0">
            <a:spAutoFit/>
          </a:bodyPr>
          <a:lstStyle/>
          <a:p>
            <a:r>
              <a:rPr lang="en-US" b="1" dirty="0"/>
              <a:t>GENDER</a:t>
            </a:r>
            <a:endParaRPr lang="en-GB" b="1" dirty="0"/>
          </a:p>
        </p:txBody>
      </p:sp>
      <p:sp>
        <p:nvSpPr>
          <p:cNvPr id="6" name="TextBox 5">
            <a:extLst>
              <a:ext uri="{FF2B5EF4-FFF2-40B4-BE49-F238E27FC236}">
                <a16:creationId xmlns:a16="http://schemas.microsoft.com/office/drawing/2014/main" id="{8E1DD101-3F5D-49B0-86AB-A9A6C1D8E292}"/>
              </a:ext>
            </a:extLst>
          </p:cNvPr>
          <p:cNvSpPr txBox="1"/>
          <p:nvPr/>
        </p:nvSpPr>
        <p:spPr>
          <a:xfrm>
            <a:off x="967410" y="2990408"/>
            <a:ext cx="2080590" cy="1285480"/>
          </a:xfrm>
          <a:prstGeom prst="rect">
            <a:avLst/>
          </a:prstGeom>
          <a:noFill/>
        </p:spPr>
        <p:txBody>
          <a:bodyPr wrap="square" rtlCol="0">
            <a:spAutoFit/>
          </a:bodyPr>
          <a:lstStyle/>
          <a:p>
            <a:pPr lvl="1" algn="just">
              <a:lnSpc>
                <a:spcPct val="150000"/>
              </a:lnSpc>
            </a:pPr>
            <a:r>
              <a:rPr lang="en-GB" kern="100" dirty="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18-24     13.3%</a:t>
            </a:r>
          </a:p>
          <a:p>
            <a:pPr lvl="1" algn="just">
              <a:lnSpc>
                <a:spcPct val="150000"/>
              </a:lnSpc>
            </a:pPr>
            <a:r>
              <a:rPr lang="en-GB" kern="10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25-34     77.8%</a:t>
            </a:r>
          </a:p>
          <a:p>
            <a:pPr lvl="1" algn="just">
              <a:lnSpc>
                <a:spcPct val="150000"/>
              </a:lnSpc>
            </a:pPr>
            <a:r>
              <a:rPr lang="en-GB" kern="10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35-44     8.9%</a:t>
            </a:r>
            <a:endParaRPr lang="en-GB" dirty="0">
              <a:solidFill>
                <a:schemeClr val="bg1"/>
              </a:solidFill>
              <a:latin typeface="Berlin Sans FB Demi" panose="020E0802020502020306" pitchFamily="34" charset="0"/>
            </a:endParaRPr>
          </a:p>
        </p:txBody>
      </p:sp>
      <p:sp>
        <p:nvSpPr>
          <p:cNvPr id="11" name="TextBox 10">
            <a:extLst>
              <a:ext uri="{FF2B5EF4-FFF2-40B4-BE49-F238E27FC236}">
                <a16:creationId xmlns:a16="http://schemas.microsoft.com/office/drawing/2014/main" id="{2190483C-355D-427B-A962-3D6B243C92C3}"/>
              </a:ext>
            </a:extLst>
          </p:cNvPr>
          <p:cNvSpPr txBox="1"/>
          <p:nvPr/>
        </p:nvSpPr>
        <p:spPr>
          <a:xfrm>
            <a:off x="3048000" y="2990408"/>
            <a:ext cx="6096000" cy="870559"/>
          </a:xfrm>
          <a:prstGeom prst="rect">
            <a:avLst/>
          </a:prstGeom>
          <a:noFill/>
        </p:spPr>
        <p:txBody>
          <a:bodyPr wrap="square">
            <a:spAutoFit/>
          </a:bodyPr>
          <a:lstStyle/>
          <a:p>
            <a:pPr lvl="1" algn="just">
              <a:lnSpc>
                <a:spcPct val="150000"/>
              </a:lnSpc>
            </a:pPr>
            <a:r>
              <a:rPr lang="en-GB" kern="100" dirty="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 77.8%</a:t>
            </a:r>
          </a:p>
          <a:p>
            <a:pPr lvl="1" algn="just">
              <a:lnSpc>
                <a:spcPct val="150000"/>
              </a:lnSpc>
            </a:pPr>
            <a:r>
              <a:rPr lang="en-GB" kern="100" dirty="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35-44     8.9</a:t>
            </a:r>
            <a:endParaRPr lang="en-GB" dirty="0"/>
          </a:p>
        </p:txBody>
      </p:sp>
      <p:sp>
        <p:nvSpPr>
          <p:cNvPr id="12" name="TextBox 11">
            <a:extLst>
              <a:ext uri="{FF2B5EF4-FFF2-40B4-BE49-F238E27FC236}">
                <a16:creationId xmlns:a16="http://schemas.microsoft.com/office/drawing/2014/main" id="{8EC400AE-32E5-468A-B0E9-EDE2E0B65454}"/>
              </a:ext>
            </a:extLst>
          </p:cNvPr>
          <p:cNvSpPr txBox="1"/>
          <p:nvPr/>
        </p:nvSpPr>
        <p:spPr>
          <a:xfrm>
            <a:off x="4982818" y="2990408"/>
            <a:ext cx="2080591" cy="1225592"/>
          </a:xfrm>
          <a:prstGeom prst="rect">
            <a:avLst/>
          </a:prstGeom>
          <a:noFill/>
        </p:spPr>
        <p:txBody>
          <a:bodyPr wrap="square" rtlCol="0">
            <a:spAutoFit/>
          </a:bodyPr>
          <a:lstStyle/>
          <a:p>
            <a:pPr>
              <a:lnSpc>
                <a:spcPct val="200000"/>
              </a:lnSpc>
            </a:pPr>
            <a:r>
              <a:rPr lang="en-US" sz="2000" dirty="0">
                <a:solidFill>
                  <a:schemeClr val="bg1"/>
                </a:solidFill>
                <a:latin typeface="Berlin Sans FB Demi" panose="020E0802020502020306" pitchFamily="34" charset="0"/>
              </a:rPr>
              <a:t>Female  77.8%</a:t>
            </a:r>
          </a:p>
          <a:p>
            <a:pPr>
              <a:lnSpc>
                <a:spcPct val="200000"/>
              </a:lnSpc>
            </a:pPr>
            <a:r>
              <a:rPr lang="en-US" sz="2000" dirty="0">
                <a:solidFill>
                  <a:schemeClr val="bg1"/>
                </a:solidFill>
                <a:latin typeface="Berlin Sans FB Demi" panose="020E0802020502020306" pitchFamily="34" charset="0"/>
              </a:rPr>
              <a:t>Male      22.2%</a:t>
            </a:r>
            <a:endParaRPr lang="en-GB" sz="2000" dirty="0">
              <a:solidFill>
                <a:schemeClr val="bg1"/>
              </a:solidFill>
              <a:latin typeface="Berlin Sans FB Demi" panose="020E0802020502020306" pitchFamily="34" charset="0"/>
            </a:endParaRPr>
          </a:p>
        </p:txBody>
      </p:sp>
      <p:sp>
        <p:nvSpPr>
          <p:cNvPr id="16" name="TextBox 15">
            <a:extLst>
              <a:ext uri="{FF2B5EF4-FFF2-40B4-BE49-F238E27FC236}">
                <a16:creationId xmlns:a16="http://schemas.microsoft.com/office/drawing/2014/main" id="{530C1570-A323-40E8-8DED-9B2F6E8A3D95}"/>
              </a:ext>
            </a:extLst>
          </p:cNvPr>
          <p:cNvSpPr txBox="1"/>
          <p:nvPr/>
        </p:nvSpPr>
        <p:spPr>
          <a:xfrm>
            <a:off x="8283007" y="3104332"/>
            <a:ext cx="2222655" cy="1118640"/>
          </a:xfrm>
          <a:prstGeom prst="rect">
            <a:avLst/>
          </a:prstGeom>
          <a:noFill/>
        </p:spPr>
        <p:txBody>
          <a:bodyPr wrap="square" rtlCol="0">
            <a:spAutoFit/>
          </a:bodyPr>
          <a:lstStyle/>
          <a:p>
            <a:pPr lvl="1" algn="just">
              <a:lnSpc>
                <a:spcPct val="200000"/>
              </a:lnSpc>
            </a:pPr>
            <a:r>
              <a:rPr lang="en-GB" sz="1800" kern="100" dirty="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Yes     55.6%</a:t>
            </a:r>
          </a:p>
          <a:p>
            <a:pPr lvl="1" algn="just">
              <a:lnSpc>
                <a:spcPct val="200000"/>
              </a:lnSpc>
              <a:spcAft>
                <a:spcPts val="800"/>
              </a:spcAft>
            </a:pPr>
            <a:r>
              <a:rPr lang="en-GB" sz="1800" kern="100" dirty="0">
                <a:solidFill>
                  <a:schemeClr val="bg1"/>
                </a:solidFill>
                <a:effectLst/>
                <a:latin typeface="Berlin Sans FB Demi" panose="020E0802020502020306" pitchFamily="34" charset="0"/>
                <a:ea typeface="Calibri" panose="020F0502020204030204" pitchFamily="34" charset="0"/>
                <a:cs typeface="Times New Roman" panose="02020603050405020304" pitchFamily="18" charset="0"/>
              </a:rPr>
              <a:t>No      44.4%</a:t>
            </a:r>
          </a:p>
        </p:txBody>
      </p:sp>
      <p:sp>
        <p:nvSpPr>
          <p:cNvPr id="21" name="TextBox 20">
            <a:extLst>
              <a:ext uri="{FF2B5EF4-FFF2-40B4-BE49-F238E27FC236}">
                <a16:creationId xmlns:a16="http://schemas.microsoft.com/office/drawing/2014/main" id="{5C7F5DAB-5671-4572-B9F5-30CF73C9D675}"/>
              </a:ext>
            </a:extLst>
          </p:cNvPr>
          <p:cNvSpPr txBox="1"/>
          <p:nvPr/>
        </p:nvSpPr>
        <p:spPr>
          <a:xfrm>
            <a:off x="613740" y="5236139"/>
            <a:ext cx="10818746" cy="1569660"/>
          </a:xfrm>
          <a:prstGeom prst="rect">
            <a:avLst/>
          </a:prstGeom>
          <a:noFill/>
        </p:spPr>
        <p:txBody>
          <a:bodyPr wrap="square" rtlCol="0">
            <a:spAutoFit/>
          </a:bodyPr>
          <a:lstStyle/>
          <a:p>
            <a:pPr marL="800100" lvl="1" indent="-342900">
              <a:buFont typeface="Wingdings" panose="05000000000000000000" pitchFamily="2" charset="2"/>
              <a:buChar char="v"/>
            </a:pPr>
            <a:r>
              <a:rPr lang="en-US" sz="1600" dirty="0">
                <a:latin typeface="Bookman Old Style" panose="02050604050505020204" pitchFamily="18" charset="0"/>
                <a:cs typeface="MV Boli" panose="02000500030200090000" pitchFamily="2" charset="0"/>
              </a:rPr>
              <a:t>The result above shows that majority of the respondents (77.8%) were between 25-34 years old which is making this the primary target demographics for our jewelry boutique.</a:t>
            </a:r>
          </a:p>
          <a:p>
            <a:pPr marL="800100" lvl="1" indent="-342900">
              <a:buFont typeface="Wingdings" panose="05000000000000000000" pitchFamily="2" charset="2"/>
              <a:buChar char="v"/>
            </a:pPr>
            <a:endParaRPr lang="en-US" sz="1600" dirty="0">
              <a:latin typeface="Bookman Old Style" panose="02050604050505020204" pitchFamily="18" charset="0"/>
              <a:cs typeface="MV Boli" panose="02000500030200090000" pitchFamily="2" charset="0"/>
            </a:endParaRPr>
          </a:p>
          <a:p>
            <a:pPr marL="800100" lvl="1" indent="-342900">
              <a:buFont typeface="Wingdings" panose="05000000000000000000" pitchFamily="2" charset="2"/>
              <a:buChar char="v"/>
            </a:pPr>
            <a:r>
              <a:rPr lang="en-US" sz="1600" dirty="0">
                <a:latin typeface="Bookman Old Style" panose="02050604050505020204" pitchFamily="18" charset="0"/>
                <a:cs typeface="MV Boli" panose="02000500030200090000" pitchFamily="2" charset="0"/>
              </a:rPr>
              <a:t>There was a high response from female respondents(77.8%) than the male respondents.</a:t>
            </a:r>
          </a:p>
          <a:p>
            <a:pPr lvl="1"/>
            <a:r>
              <a:rPr lang="en-US" sz="1600" dirty="0">
                <a:latin typeface="Bookman Old Style" panose="02050604050505020204" pitchFamily="18" charset="0"/>
                <a:cs typeface="MV Boli" panose="02000500030200090000" pitchFamily="2" charset="0"/>
              </a:rPr>
              <a:t> </a:t>
            </a:r>
          </a:p>
          <a:p>
            <a:pPr marL="800100" lvl="1" indent="-342900">
              <a:buFont typeface="Wingdings" panose="05000000000000000000" pitchFamily="2" charset="2"/>
              <a:buChar char="v"/>
            </a:pPr>
            <a:r>
              <a:rPr lang="en-US" sz="1600" dirty="0">
                <a:latin typeface="Bookman Old Style" panose="02050604050505020204" pitchFamily="18" charset="0"/>
                <a:cs typeface="MV Boli" panose="02000500030200090000" pitchFamily="2" charset="0"/>
              </a:rPr>
              <a:t>55.6% of the respondents live or work in </a:t>
            </a:r>
            <a:r>
              <a:rPr lang="en-US" sz="1600" dirty="0" err="1">
                <a:latin typeface="Bookman Old Style" panose="02050604050505020204" pitchFamily="18" charset="0"/>
                <a:cs typeface="MV Boli" panose="02000500030200090000" pitchFamily="2" charset="0"/>
              </a:rPr>
              <a:t>Wuse</a:t>
            </a:r>
            <a:r>
              <a:rPr lang="en-US" sz="1600" dirty="0">
                <a:latin typeface="Bookman Old Style" panose="02050604050505020204" pitchFamily="18" charset="0"/>
                <a:cs typeface="MV Boli" panose="02000500030200090000" pitchFamily="2" charset="0"/>
              </a:rPr>
              <a:t>.</a:t>
            </a:r>
          </a:p>
        </p:txBody>
      </p:sp>
      <p:sp>
        <p:nvSpPr>
          <p:cNvPr id="24" name="TextBox 23">
            <a:extLst>
              <a:ext uri="{FF2B5EF4-FFF2-40B4-BE49-F238E27FC236}">
                <a16:creationId xmlns:a16="http://schemas.microsoft.com/office/drawing/2014/main" id="{43E6BED3-905C-4658-BF94-2AF2B115ED0F}"/>
              </a:ext>
            </a:extLst>
          </p:cNvPr>
          <p:cNvSpPr txBox="1"/>
          <p:nvPr/>
        </p:nvSpPr>
        <p:spPr>
          <a:xfrm>
            <a:off x="236012" y="4663790"/>
            <a:ext cx="2649645" cy="400110"/>
          </a:xfrm>
          <a:prstGeom prst="rect">
            <a:avLst/>
          </a:prstGeom>
          <a:noFill/>
        </p:spPr>
        <p:txBody>
          <a:bodyPr wrap="square" rtlCol="0">
            <a:spAutoFit/>
          </a:bodyPr>
          <a:lstStyle/>
          <a:p>
            <a:r>
              <a:rPr lang="en-US" sz="2000" b="1" dirty="0">
                <a:latin typeface="Agency FB" panose="020B0503020202020204" pitchFamily="34" charset="0"/>
                <a:cs typeface="MV Boli" panose="02000500030200090000" pitchFamily="2" charset="0"/>
              </a:rPr>
              <a:t>Demographic Details</a:t>
            </a:r>
            <a:endParaRPr lang="en-GB" sz="2000" b="1" dirty="0">
              <a:latin typeface="Agency FB" panose="020B0503020202020204" pitchFamily="34" charset="0"/>
            </a:endParaRPr>
          </a:p>
        </p:txBody>
      </p:sp>
    </p:spTree>
    <p:extLst>
      <p:ext uri="{BB962C8B-B14F-4D97-AF65-F5344CB8AC3E}">
        <p14:creationId xmlns:p14="http://schemas.microsoft.com/office/powerpoint/2010/main" val="4139508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0062-0026-4487-8537-9F9FB09DEA46}"/>
              </a:ext>
            </a:extLst>
          </p:cNvPr>
          <p:cNvSpPr>
            <a:spLocks noGrp="1"/>
          </p:cNvSpPr>
          <p:nvPr>
            <p:ph type="title"/>
          </p:nvPr>
        </p:nvSpPr>
        <p:spPr/>
        <p:txBody>
          <a:bodyPr/>
          <a:lstStyle/>
          <a:p>
            <a:r>
              <a:rPr lang="en-US" dirty="0">
                <a:latin typeface="Copperplate Gothic Bold" panose="020E0705020206020404" pitchFamily="34" charset="0"/>
              </a:rPr>
              <a:t>REPORT</a:t>
            </a:r>
            <a:endParaRPr lang="en-GB" dirty="0">
              <a:latin typeface="Copperplate Gothic Bold" panose="020E0705020206020404" pitchFamily="34" charset="0"/>
            </a:endParaRPr>
          </a:p>
        </p:txBody>
      </p:sp>
      <p:sp>
        <p:nvSpPr>
          <p:cNvPr id="5" name="Rectangle 4">
            <a:extLst>
              <a:ext uri="{FF2B5EF4-FFF2-40B4-BE49-F238E27FC236}">
                <a16:creationId xmlns:a16="http://schemas.microsoft.com/office/drawing/2014/main" id="{C4A19627-086B-40C0-B7FE-851C91BD1C93}"/>
              </a:ext>
            </a:extLst>
          </p:cNvPr>
          <p:cNvSpPr/>
          <p:nvPr/>
        </p:nvSpPr>
        <p:spPr>
          <a:xfrm>
            <a:off x="1060174" y="2903956"/>
            <a:ext cx="4174435" cy="17890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60DA2B60-3695-468D-BAB9-34979616D4E5}"/>
              </a:ext>
            </a:extLst>
          </p:cNvPr>
          <p:cNvSpPr/>
          <p:nvPr/>
        </p:nvSpPr>
        <p:spPr>
          <a:xfrm>
            <a:off x="7401339" y="2903956"/>
            <a:ext cx="4008783" cy="17890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BF1697DA-24D7-4882-9C26-294DE233742D}"/>
              </a:ext>
            </a:extLst>
          </p:cNvPr>
          <p:cNvSpPr txBox="1"/>
          <p:nvPr/>
        </p:nvSpPr>
        <p:spPr>
          <a:xfrm>
            <a:off x="1060173" y="2398999"/>
            <a:ext cx="3697356" cy="369332"/>
          </a:xfrm>
          <a:prstGeom prst="rect">
            <a:avLst/>
          </a:prstGeom>
          <a:noFill/>
        </p:spPr>
        <p:txBody>
          <a:bodyPr wrap="square" rtlCol="0">
            <a:spAutoFit/>
          </a:bodyPr>
          <a:lstStyle/>
          <a:p>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How often do you </a:t>
            </a:r>
            <a:r>
              <a:rPr lang="en-GB" sz="1800" kern="100" dirty="0">
                <a:latin typeface="Britannic Bold" panose="020B0903060703020204" pitchFamily="34" charset="0"/>
                <a:ea typeface="Calibri" panose="020F0502020204030204" pitchFamily="34" charset="0"/>
                <a:cs typeface="Times New Roman" panose="02020603050405020304" pitchFamily="18" charset="0"/>
              </a:rPr>
              <a:t>wear </a:t>
            </a:r>
            <a:r>
              <a:rPr lang="en-GB" sz="1800" kern="100" dirty="0" err="1">
                <a:latin typeface="Britannic Bold" panose="020B0903060703020204" pitchFamily="34" charset="0"/>
                <a:ea typeface="Calibri" panose="020F0502020204030204" pitchFamily="34" charset="0"/>
                <a:cs typeface="Times New Roman" panose="02020603050405020304" pitchFamily="18" charset="0"/>
              </a:rPr>
              <a:t>jewelry</a:t>
            </a:r>
            <a:r>
              <a:rPr lang="en-GB" sz="1800" kern="100" dirty="0">
                <a:latin typeface="Britannic Bold" panose="020B0903060703020204" pitchFamily="34" charset="0"/>
                <a:ea typeface="Calibri" panose="020F0502020204030204" pitchFamily="34" charset="0"/>
                <a:cs typeface="Times New Roman" panose="02020603050405020304" pitchFamily="18" charset="0"/>
              </a:rPr>
              <a:t> ?</a:t>
            </a:r>
            <a:endParaRPr lang="en-GB" sz="1800" kern="100" dirty="0">
              <a:effectLst/>
              <a:latin typeface="Britannic Bold" panose="020B090306070302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0B6B2DF-A591-44F2-BDAB-821169C246EA}"/>
              </a:ext>
            </a:extLst>
          </p:cNvPr>
          <p:cNvSpPr txBox="1"/>
          <p:nvPr/>
        </p:nvSpPr>
        <p:spPr>
          <a:xfrm>
            <a:off x="7474227" y="2358887"/>
            <a:ext cx="4147931" cy="369332"/>
          </a:xfrm>
          <a:prstGeom prst="rect">
            <a:avLst/>
          </a:prstGeom>
          <a:noFill/>
        </p:spPr>
        <p:txBody>
          <a:bodyPr wrap="square" rtlCol="0">
            <a:spAutoFit/>
          </a:bodyPr>
          <a:lstStyle/>
          <a:p>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Where do you usually get your </a:t>
            </a:r>
            <a:r>
              <a:rPr lang="en-GB" sz="1800" kern="100" dirty="0" err="1">
                <a:effectLst/>
                <a:latin typeface="Britannic Bold" panose="020B0903060703020204" pitchFamily="34" charset="0"/>
                <a:ea typeface="Calibri" panose="020F0502020204030204" pitchFamily="34" charset="0"/>
                <a:cs typeface="Times New Roman" panose="02020603050405020304" pitchFamily="18" charset="0"/>
              </a:rPr>
              <a:t>jewelry</a:t>
            </a:r>
            <a:r>
              <a:rPr lang="en-GB" sz="1800" kern="100" dirty="0">
                <a:effectLst/>
                <a:latin typeface="Britannic Bold" panose="020B0903060703020204" pitchFamily="34" charset="0"/>
                <a:ea typeface="Calibri" panose="020F0502020204030204" pitchFamily="34" charset="0"/>
                <a:cs typeface="Times New Roman" panose="02020603050405020304" pitchFamily="18" charset="0"/>
              </a:rPr>
              <a:t>?</a:t>
            </a:r>
          </a:p>
        </p:txBody>
      </p:sp>
      <p:sp>
        <p:nvSpPr>
          <p:cNvPr id="11" name="TextBox 10">
            <a:extLst>
              <a:ext uri="{FF2B5EF4-FFF2-40B4-BE49-F238E27FC236}">
                <a16:creationId xmlns:a16="http://schemas.microsoft.com/office/drawing/2014/main" id="{8CC38C55-2775-4348-BC61-D55B17BE1F79}"/>
              </a:ext>
            </a:extLst>
          </p:cNvPr>
          <p:cNvSpPr txBox="1"/>
          <p:nvPr/>
        </p:nvSpPr>
        <p:spPr>
          <a:xfrm>
            <a:off x="781877" y="2903418"/>
            <a:ext cx="4253948" cy="1705019"/>
          </a:xfrm>
          <a:prstGeom prst="rect">
            <a:avLst/>
          </a:prstGeom>
          <a:noFill/>
        </p:spPr>
        <p:txBody>
          <a:bodyPr wrap="square" rtlCol="0">
            <a:spAutoFit/>
          </a:bodyPr>
          <a:lstStyle/>
          <a:p>
            <a:pPr lvl="1" algn="just">
              <a:lnSpc>
                <a:spcPct val="150000"/>
              </a:lnSpc>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Daily      22.2%</a:t>
            </a:r>
          </a:p>
          <a:p>
            <a:pPr lvl="1" algn="just">
              <a:lnSpc>
                <a:spcPct val="150000"/>
              </a:lnSpc>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A few times in a week   66.7%</a:t>
            </a:r>
          </a:p>
          <a:p>
            <a:pPr lvl="1" algn="just">
              <a:lnSpc>
                <a:spcPct val="150000"/>
              </a:lnSpc>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Once a week      6.7%  </a:t>
            </a:r>
          </a:p>
          <a:p>
            <a:pPr lvl="1" algn="just">
              <a:lnSpc>
                <a:spcPct val="150000"/>
              </a:lnSpc>
              <a:spcAft>
                <a:spcPts val="800"/>
              </a:spcAft>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Occasionally     4.4%</a:t>
            </a:r>
          </a:p>
        </p:txBody>
      </p:sp>
      <p:sp>
        <p:nvSpPr>
          <p:cNvPr id="12" name="TextBox 11">
            <a:extLst>
              <a:ext uri="{FF2B5EF4-FFF2-40B4-BE49-F238E27FC236}">
                <a16:creationId xmlns:a16="http://schemas.microsoft.com/office/drawing/2014/main" id="{D78E9BC0-93C9-46AD-A6EB-31BF4A44F702}"/>
              </a:ext>
            </a:extLst>
          </p:cNvPr>
          <p:cNvSpPr txBox="1"/>
          <p:nvPr/>
        </p:nvSpPr>
        <p:spPr>
          <a:xfrm>
            <a:off x="7156175" y="3020362"/>
            <a:ext cx="3472067" cy="1672637"/>
          </a:xfrm>
          <a:prstGeom prst="rect">
            <a:avLst/>
          </a:prstGeom>
          <a:noFill/>
        </p:spPr>
        <p:txBody>
          <a:bodyPr wrap="square" rtlCol="0">
            <a:spAutoFit/>
          </a:bodyPr>
          <a:lstStyle/>
          <a:p>
            <a:pPr lvl="1" algn="just">
              <a:lnSpc>
                <a:spcPct val="200000"/>
              </a:lnSpc>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Online store   26.7%               </a:t>
            </a:r>
          </a:p>
          <a:p>
            <a:pPr lvl="1" algn="just">
              <a:lnSpc>
                <a:spcPct val="200000"/>
              </a:lnSpc>
            </a:pPr>
            <a:r>
              <a:rPr lang="en-GB" sz="1800" b="1"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Physical store   73.3%    </a:t>
            </a:r>
          </a:p>
          <a:p>
            <a:pPr marL="457200" lvl="1" indent="0" algn="just">
              <a:lnSpc>
                <a:spcPct val="200000"/>
              </a:lnSpc>
              <a:buNone/>
            </a:pPr>
            <a:r>
              <a:rPr lang="en-GB" sz="1800" kern="100" dirty="0">
                <a:effectLst/>
                <a:latin typeface="Bookman Old Style" panose="02050604050505020204" pitchFamily="18" charset="0"/>
                <a:ea typeface="Calibri" panose="020F0502020204030204" pitchFamily="34" charset="0"/>
                <a:cs typeface="Times New Roman" panose="02020603050405020304" pitchFamily="18" charset="0"/>
              </a:rPr>
              <a:t> </a:t>
            </a:r>
          </a:p>
        </p:txBody>
      </p:sp>
      <p:sp>
        <p:nvSpPr>
          <p:cNvPr id="13" name="TextBox 12">
            <a:extLst>
              <a:ext uri="{FF2B5EF4-FFF2-40B4-BE49-F238E27FC236}">
                <a16:creationId xmlns:a16="http://schemas.microsoft.com/office/drawing/2014/main" id="{EA07E62E-5B29-4583-B71D-CFBE87CBFB76}"/>
              </a:ext>
            </a:extLst>
          </p:cNvPr>
          <p:cNvSpPr txBox="1"/>
          <p:nvPr/>
        </p:nvSpPr>
        <p:spPr>
          <a:xfrm>
            <a:off x="1060174" y="5330146"/>
            <a:ext cx="9632316" cy="1527854"/>
          </a:xfrm>
          <a:prstGeom prst="rect">
            <a:avLst/>
          </a:prstGeom>
          <a:noFill/>
        </p:spPr>
        <p:txBody>
          <a:bodyPr wrap="square" rtlCol="0">
            <a:spAutoFit/>
          </a:bodyPr>
          <a:lstStyle/>
          <a:p>
            <a:pPr marL="742950" lvl="1" indent="-285750">
              <a:lnSpc>
                <a:spcPct val="150000"/>
              </a:lnSpc>
              <a:buFont typeface="Wingdings" panose="05000000000000000000" pitchFamily="2" charset="2"/>
              <a:buChar char="v"/>
            </a:pPr>
            <a:r>
              <a:rPr lang="en-US" sz="1600" dirty="0">
                <a:latin typeface="Bookman Old Style" panose="02050604050505020204" pitchFamily="18" charset="0"/>
                <a:cs typeface="MV Boli" panose="02000500030200090000" pitchFamily="2" charset="0"/>
              </a:rPr>
              <a:t>66.7% of the respondents wears jewelry a few times a week, while 22.2% wear Occasionally.</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cs typeface="MV Boli" panose="02000500030200090000" pitchFamily="2" charset="0"/>
              </a:rPr>
              <a:t>Most respondents(73.3%) gets their jewelry from physical store, while 26.7% get from online store.</a:t>
            </a:r>
          </a:p>
        </p:txBody>
      </p:sp>
      <p:sp>
        <p:nvSpPr>
          <p:cNvPr id="14" name="TextBox 13">
            <a:extLst>
              <a:ext uri="{FF2B5EF4-FFF2-40B4-BE49-F238E27FC236}">
                <a16:creationId xmlns:a16="http://schemas.microsoft.com/office/drawing/2014/main" id="{3F9DA739-16FA-4866-A005-0AA1689F835F}"/>
              </a:ext>
            </a:extLst>
          </p:cNvPr>
          <p:cNvSpPr txBox="1"/>
          <p:nvPr/>
        </p:nvSpPr>
        <p:spPr>
          <a:xfrm>
            <a:off x="250784" y="4878612"/>
            <a:ext cx="2896607" cy="491481"/>
          </a:xfrm>
          <a:prstGeom prst="rect">
            <a:avLst/>
          </a:prstGeom>
          <a:noFill/>
        </p:spPr>
        <p:txBody>
          <a:bodyPr wrap="square" rtlCol="0">
            <a:spAutoFit/>
          </a:bodyPr>
          <a:lstStyle/>
          <a:p>
            <a:pPr>
              <a:lnSpc>
                <a:spcPct val="150000"/>
              </a:lnSpc>
            </a:pPr>
            <a:r>
              <a:rPr lang="en-US" sz="2000" b="1" dirty="0">
                <a:latin typeface="Agency FB" panose="020B0503020202020204" pitchFamily="34" charset="0"/>
                <a:cs typeface="MV Boli" panose="02000500030200090000" pitchFamily="2" charset="0"/>
              </a:rPr>
              <a:t>Frequency Analysis</a:t>
            </a:r>
          </a:p>
        </p:txBody>
      </p:sp>
    </p:spTree>
    <p:extLst>
      <p:ext uri="{BB962C8B-B14F-4D97-AF65-F5344CB8AC3E}">
        <p14:creationId xmlns:p14="http://schemas.microsoft.com/office/powerpoint/2010/main" val="2533022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D2B3-FBD4-47E8-819B-D29D67679FF6}"/>
              </a:ext>
            </a:extLst>
          </p:cNvPr>
          <p:cNvSpPr>
            <a:spLocks noGrp="1"/>
          </p:cNvSpPr>
          <p:nvPr>
            <p:ph type="title"/>
          </p:nvPr>
        </p:nvSpPr>
        <p:spPr>
          <a:xfrm>
            <a:off x="1976589" y="771059"/>
            <a:ext cx="8761413" cy="706964"/>
          </a:xfrm>
        </p:spPr>
        <p:txBody>
          <a:bodyPr/>
          <a:lstStyle/>
          <a:p>
            <a:r>
              <a:rPr lang="en-US" sz="3600" b="1" dirty="0">
                <a:latin typeface="Copperplate Gothic Bold" panose="020E0705020206020404" pitchFamily="34" charset="0"/>
              </a:rPr>
              <a:t>Chi Square Test Analysis</a:t>
            </a:r>
            <a:endParaRPr lang="en-GB" dirty="0">
              <a:latin typeface="Copperplate Gothic Bold" panose="020E0705020206020404" pitchFamily="34" charset="0"/>
            </a:endParaRPr>
          </a:p>
        </p:txBody>
      </p:sp>
      <p:sp>
        <p:nvSpPr>
          <p:cNvPr id="4" name="TextBox 3">
            <a:extLst>
              <a:ext uri="{FF2B5EF4-FFF2-40B4-BE49-F238E27FC236}">
                <a16:creationId xmlns:a16="http://schemas.microsoft.com/office/drawing/2014/main" id="{18F5C05D-02EF-4BAB-9480-7BF49D101A4B}"/>
              </a:ext>
            </a:extLst>
          </p:cNvPr>
          <p:cNvSpPr txBox="1"/>
          <p:nvPr/>
        </p:nvSpPr>
        <p:spPr>
          <a:xfrm>
            <a:off x="410818" y="2594113"/>
            <a:ext cx="5844208" cy="369332"/>
          </a:xfrm>
          <a:prstGeom prst="rect">
            <a:avLst/>
          </a:prstGeom>
          <a:noFill/>
        </p:spPr>
        <p:txBody>
          <a:bodyPr wrap="square" rtlCol="0">
            <a:spAutoFit/>
          </a:bodyPr>
          <a:lstStyle/>
          <a:p>
            <a:r>
              <a:rPr lang="en-US" b="1" dirty="0">
                <a:latin typeface="Baskerville Old Face" panose="02020602080505020303" pitchFamily="18" charset="0"/>
              </a:rPr>
              <a:t>Gender/How </a:t>
            </a:r>
            <a:r>
              <a:rPr lang="en-US" b="1" dirty="0" err="1">
                <a:latin typeface="Baskerville Old Face" panose="02020602080505020303" pitchFamily="18" charset="0"/>
              </a:rPr>
              <a:t>ofen</a:t>
            </a:r>
            <a:r>
              <a:rPr lang="en-US" b="1" dirty="0">
                <a:latin typeface="Baskerville Old Face" panose="02020602080505020303" pitchFamily="18" charset="0"/>
              </a:rPr>
              <a:t> people wear jewelry</a:t>
            </a:r>
            <a:endParaRPr lang="en-GB" b="1" dirty="0">
              <a:latin typeface="Baskerville Old Face" panose="02020602080505020303" pitchFamily="18" charset="0"/>
            </a:endParaRPr>
          </a:p>
        </p:txBody>
      </p:sp>
      <p:sp>
        <p:nvSpPr>
          <p:cNvPr id="5" name="TextBox 4">
            <a:extLst>
              <a:ext uri="{FF2B5EF4-FFF2-40B4-BE49-F238E27FC236}">
                <a16:creationId xmlns:a16="http://schemas.microsoft.com/office/drawing/2014/main" id="{42EA09BE-FCB8-4812-864C-AB9870039E08}"/>
              </a:ext>
            </a:extLst>
          </p:cNvPr>
          <p:cNvSpPr txBox="1"/>
          <p:nvPr/>
        </p:nvSpPr>
        <p:spPr>
          <a:xfrm>
            <a:off x="6874993" y="2594113"/>
            <a:ext cx="5844208" cy="369332"/>
          </a:xfrm>
          <a:prstGeom prst="rect">
            <a:avLst/>
          </a:prstGeom>
          <a:noFill/>
        </p:spPr>
        <p:txBody>
          <a:bodyPr wrap="square" rtlCol="0">
            <a:spAutoFit/>
          </a:bodyPr>
          <a:lstStyle/>
          <a:p>
            <a:r>
              <a:rPr lang="en-US" b="1" dirty="0">
                <a:latin typeface="Baskerville Old Face" panose="02020602080505020303" pitchFamily="18" charset="0"/>
              </a:rPr>
              <a:t>Location/where people usually get their jewelry</a:t>
            </a:r>
            <a:endParaRPr lang="en-GB" b="1" dirty="0">
              <a:latin typeface="Baskerville Old Face" panose="02020602080505020303" pitchFamily="18" charset="0"/>
            </a:endParaRPr>
          </a:p>
        </p:txBody>
      </p:sp>
      <p:sp>
        <p:nvSpPr>
          <p:cNvPr id="6" name="Rectangle 5">
            <a:extLst>
              <a:ext uri="{FF2B5EF4-FFF2-40B4-BE49-F238E27FC236}">
                <a16:creationId xmlns:a16="http://schemas.microsoft.com/office/drawing/2014/main" id="{0DC64202-77A3-493D-B186-5C26F9514D10}"/>
              </a:ext>
            </a:extLst>
          </p:cNvPr>
          <p:cNvSpPr/>
          <p:nvPr/>
        </p:nvSpPr>
        <p:spPr>
          <a:xfrm>
            <a:off x="1154954" y="3059668"/>
            <a:ext cx="2211098" cy="4786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3BEB15B-C83D-49E2-85DF-37401A18BECF}"/>
              </a:ext>
            </a:extLst>
          </p:cNvPr>
          <p:cNvSpPr/>
          <p:nvPr/>
        </p:nvSpPr>
        <p:spPr>
          <a:xfrm>
            <a:off x="7957352" y="3059668"/>
            <a:ext cx="2211097" cy="4786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67236C91-8D48-4F8E-9BFA-68DE18269720}"/>
              </a:ext>
            </a:extLst>
          </p:cNvPr>
          <p:cNvSpPr txBox="1"/>
          <p:nvPr/>
        </p:nvSpPr>
        <p:spPr>
          <a:xfrm>
            <a:off x="1308217" y="3114333"/>
            <a:ext cx="2057835" cy="369332"/>
          </a:xfrm>
          <a:prstGeom prst="rect">
            <a:avLst/>
          </a:prstGeom>
          <a:noFill/>
        </p:spPr>
        <p:txBody>
          <a:bodyPr wrap="square" rtlCol="0">
            <a:spAutoFit/>
          </a:bodyPr>
          <a:lstStyle/>
          <a:p>
            <a:r>
              <a:rPr lang="en-US" b="1" dirty="0">
                <a:solidFill>
                  <a:schemeClr val="bg1"/>
                </a:solidFill>
              </a:rPr>
              <a:t>P-VALUE = 0.051</a:t>
            </a:r>
            <a:endParaRPr lang="en-GB" b="1" dirty="0">
              <a:solidFill>
                <a:schemeClr val="bg1"/>
              </a:solidFill>
            </a:endParaRPr>
          </a:p>
        </p:txBody>
      </p:sp>
      <p:sp>
        <p:nvSpPr>
          <p:cNvPr id="9" name="TextBox 8">
            <a:extLst>
              <a:ext uri="{FF2B5EF4-FFF2-40B4-BE49-F238E27FC236}">
                <a16:creationId xmlns:a16="http://schemas.microsoft.com/office/drawing/2014/main" id="{F8580EED-ECDE-40C7-B0D6-8B452B14149D}"/>
              </a:ext>
            </a:extLst>
          </p:cNvPr>
          <p:cNvSpPr txBox="1"/>
          <p:nvPr/>
        </p:nvSpPr>
        <p:spPr>
          <a:xfrm>
            <a:off x="8075468" y="3114333"/>
            <a:ext cx="2057835" cy="369332"/>
          </a:xfrm>
          <a:prstGeom prst="rect">
            <a:avLst/>
          </a:prstGeom>
          <a:noFill/>
        </p:spPr>
        <p:txBody>
          <a:bodyPr wrap="square" rtlCol="0">
            <a:spAutoFit/>
          </a:bodyPr>
          <a:lstStyle/>
          <a:p>
            <a:r>
              <a:rPr lang="en-US" b="1" dirty="0">
                <a:solidFill>
                  <a:schemeClr val="bg1"/>
                </a:solidFill>
              </a:rPr>
              <a:t>P-VALUE = 0.821</a:t>
            </a:r>
            <a:endParaRPr lang="en-GB" b="1" dirty="0">
              <a:solidFill>
                <a:schemeClr val="bg1"/>
              </a:solidFill>
            </a:endParaRPr>
          </a:p>
        </p:txBody>
      </p:sp>
      <p:sp>
        <p:nvSpPr>
          <p:cNvPr id="11" name="TextBox 10">
            <a:extLst>
              <a:ext uri="{FF2B5EF4-FFF2-40B4-BE49-F238E27FC236}">
                <a16:creationId xmlns:a16="http://schemas.microsoft.com/office/drawing/2014/main" id="{815F438D-7B89-4F8B-9017-CC069D596C3D}"/>
              </a:ext>
            </a:extLst>
          </p:cNvPr>
          <p:cNvSpPr txBox="1"/>
          <p:nvPr/>
        </p:nvSpPr>
        <p:spPr>
          <a:xfrm>
            <a:off x="493217" y="3712253"/>
            <a:ext cx="4823791" cy="1663597"/>
          </a:xfrm>
          <a:prstGeom prst="rect">
            <a:avLst/>
          </a:prstGeom>
          <a:noFill/>
        </p:spPr>
        <p:txBody>
          <a:bodyPr wrap="square" rtlCol="0">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relationship b/w how often people wear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their gender</a:t>
            </a: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Alternative Hypothesis: There is a relationship b/w how often people wear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their gender.</a:t>
            </a:r>
          </a:p>
        </p:txBody>
      </p:sp>
      <p:sp>
        <p:nvSpPr>
          <p:cNvPr id="12" name="TextBox 11">
            <a:extLst>
              <a:ext uri="{FF2B5EF4-FFF2-40B4-BE49-F238E27FC236}">
                <a16:creationId xmlns:a16="http://schemas.microsoft.com/office/drawing/2014/main" id="{BF269B83-F586-4505-AE32-3569A0759424}"/>
              </a:ext>
            </a:extLst>
          </p:cNvPr>
          <p:cNvSpPr txBox="1"/>
          <p:nvPr/>
        </p:nvSpPr>
        <p:spPr>
          <a:xfrm>
            <a:off x="6874993" y="3663844"/>
            <a:ext cx="4361263" cy="1663597"/>
          </a:xfrm>
          <a:prstGeom prst="rect">
            <a:avLst/>
          </a:prstGeom>
          <a:noFill/>
        </p:spPr>
        <p:txBody>
          <a:bodyPr wrap="square" rtlCol="0">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relationship b/w where people get their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their location</a:t>
            </a: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Alternative Hypothesis: There is a relationship b/w where people  get their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their location</a:t>
            </a:r>
          </a:p>
        </p:txBody>
      </p:sp>
      <p:sp>
        <p:nvSpPr>
          <p:cNvPr id="13" name="TextBox 12">
            <a:extLst>
              <a:ext uri="{FF2B5EF4-FFF2-40B4-BE49-F238E27FC236}">
                <a16:creationId xmlns:a16="http://schemas.microsoft.com/office/drawing/2014/main" id="{E6EE0849-D779-4F34-A9A1-A7CC5B128DA6}"/>
              </a:ext>
            </a:extLst>
          </p:cNvPr>
          <p:cNvSpPr txBox="1"/>
          <p:nvPr/>
        </p:nvSpPr>
        <p:spPr>
          <a:xfrm>
            <a:off x="708991" y="5833026"/>
            <a:ext cx="11092070" cy="923330"/>
          </a:xfrm>
          <a:prstGeom prst="rect">
            <a:avLst/>
          </a:prstGeom>
          <a:noFill/>
        </p:spPr>
        <p:txBody>
          <a:bodyPr wrap="square" rtlCol="0">
            <a:spAutoFit/>
          </a:bodyPr>
          <a:lstStyle/>
          <a:p>
            <a:r>
              <a:rPr lang="en-US" dirty="0"/>
              <a:t>Following the above test, it appears that frequency of how often the respondents wear jewelry is not influenced by their gender. And where they prefer to get their jewelry from is also not influenced by their location.</a:t>
            </a:r>
            <a:endParaRPr lang="en-GB" dirty="0"/>
          </a:p>
        </p:txBody>
      </p:sp>
      <p:sp>
        <p:nvSpPr>
          <p:cNvPr id="14" name="TextBox 13">
            <a:extLst>
              <a:ext uri="{FF2B5EF4-FFF2-40B4-BE49-F238E27FC236}">
                <a16:creationId xmlns:a16="http://schemas.microsoft.com/office/drawing/2014/main" id="{70258863-0107-455B-ABE9-625A38CDE21D}"/>
              </a:ext>
            </a:extLst>
          </p:cNvPr>
          <p:cNvSpPr txBox="1"/>
          <p:nvPr/>
        </p:nvSpPr>
        <p:spPr>
          <a:xfrm>
            <a:off x="4621260" y="5419772"/>
            <a:ext cx="2057835" cy="369332"/>
          </a:xfrm>
          <a:prstGeom prst="rect">
            <a:avLst/>
          </a:prstGeom>
          <a:noFill/>
        </p:spPr>
        <p:txBody>
          <a:bodyPr wrap="square" rtlCol="0">
            <a:spAutoFit/>
          </a:bodyPr>
          <a:lstStyle/>
          <a:p>
            <a:pPr algn="ctr"/>
            <a:r>
              <a:rPr lang="en-US" b="1" dirty="0"/>
              <a:t>RESULT</a:t>
            </a:r>
            <a:endParaRPr lang="en-GB" b="1" dirty="0"/>
          </a:p>
        </p:txBody>
      </p:sp>
      <p:sp>
        <p:nvSpPr>
          <p:cNvPr id="15" name="TextBox 14">
            <a:extLst>
              <a:ext uri="{FF2B5EF4-FFF2-40B4-BE49-F238E27FC236}">
                <a16:creationId xmlns:a16="http://schemas.microsoft.com/office/drawing/2014/main" id="{25D2F514-F190-40BF-8837-1CD5F3FEA88C}"/>
              </a:ext>
            </a:extLst>
          </p:cNvPr>
          <p:cNvSpPr txBox="1"/>
          <p:nvPr/>
        </p:nvSpPr>
        <p:spPr>
          <a:xfrm>
            <a:off x="4790653" y="1665711"/>
            <a:ext cx="2057835" cy="369332"/>
          </a:xfrm>
          <a:prstGeom prst="rect">
            <a:avLst/>
          </a:prstGeom>
          <a:noFill/>
        </p:spPr>
        <p:txBody>
          <a:bodyPr wrap="square" rtlCol="0">
            <a:spAutoFit/>
          </a:bodyPr>
          <a:lstStyle/>
          <a:p>
            <a:r>
              <a:rPr lang="en-US" b="1" dirty="0">
                <a:solidFill>
                  <a:schemeClr val="bg1"/>
                </a:solidFill>
              </a:rPr>
              <a:t>Market Demand</a:t>
            </a:r>
            <a:endParaRPr lang="en-GB" b="1" dirty="0">
              <a:solidFill>
                <a:schemeClr val="bg1"/>
              </a:solidFill>
            </a:endParaRPr>
          </a:p>
        </p:txBody>
      </p:sp>
    </p:spTree>
    <p:extLst>
      <p:ext uri="{BB962C8B-B14F-4D97-AF65-F5344CB8AC3E}">
        <p14:creationId xmlns:p14="http://schemas.microsoft.com/office/powerpoint/2010/main" val="2290995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8647-A266-4921-B43C-FBEBD76FA5E6}"/>
              </a:ext>
            </a:extLst>
          </p:cNvPr>
          <p:cNvSpPr>
            <a:spLocks noGrp="1"/>
          </p:cNvSpPr>
          <p:nvPr>
            <p:ph type="title"/>
          </p:nvPr>
        </p:nvSpPr>
        <p:spPr>
          <a:xfrm>
            <a:off x="4393956" y="884783"/>
            <a:ext cx="8761413" cy="706964"/>
          </a:xfrm>
        </p:spPr>
        <p:txBody>
          <a:bodyPr/>
          <a:lstStyle/>
          <a:p>
            <a:r>
              <a:rPr lang="en-US" dirty="0">
                <a:latin typeface="Copperplate Gothic Bold" panose="020E0705020206020404" pitchFamily="34" charset="0"/>
              </a:rPr>
              <a:t>REPORT</a:t>
            </a:r>
            <a:endParaRPr lang="en-GB" dirty="0">
              <a:latin typeface="Copperplate Gothic Bold" panose="020E0705020206020404" pitchFamily="34" charset="0"/>
            </a:endParaRPr>
          </a:p>
        </p:txBody>
      </p:sp>
      <p:sp>
        <p:nvSpPr>
          <p:cNvPr id="4" name="TextBox 3">
            <a:extLst>
              <a:ext uri="{FF2B5EF4-FFF2-40B4-BE49-F238E27FC236}">
                <a16:creationId xmlns:a16="http://schemas.microsoft.com/office/drawing/2014/main" id="{3357A70A-4B15-486D-90B2-2AC3D114D53B}"/>
              </a:ext>
            </a:extLst>
          </p:cNvPr>
          <p:cNvSpPr txBox="1"/>
          <p:nvPr/>
        </p:nvSpPr>
        <p:spPr>
          <a:xfrm>
            <a:off x="4261434" y="1652855"/>
            <a:ext cx="3424825" cy="369332"/>
          </a:xfrm>
          <a:prstGeom prst="rect">
            <a:avLst/>
          </a:prstGeom>
          <a:noFill/>
        </p:spPr>
        <p:txBody>
          <a:bodyPr wrap="square">
            <a:spAutoFit/>
          </a:bodyPr>
          <a:lstStyle/>
          <a:p>
            <a:r>
              <a:rPr lang="en-US" b="1" dirty="0">
                <a:solidFill>
                  <a:schemeClr val="bg1"/>
                </a:solidFill>
              </a:rPr>
              <a:t>Customer Preference</a:t>
            </a:r>
            <a:endParaRPr lang="en-GB" b="1" dirty="0">
              <a:solidFill>
                <a:schemeClr val="bg1"/>
              </a:solidFill>
            </a:endParaRPr>
          </a:p>
        </p:txBody>
      </p:sp>
      <p:sp>
        <p:nvSpPr>
          <p:cNvPr id="25" name="Content Placeholder 2">
            <a:extLst>
              <a:ext uri="{FF2B5EF4-FFF2-40B4-BE49-F238E27FC236}">
                <a16:creationId xmlns:a16="http://schemas.microsoft.com/office/drawing/2014/main" id="{A376C681-3C77-42A5-B226-CB8933090FBC}"/>
              </a:ext>
            </a:extLst>
          </p:cNvPr>
          <p:cNvSpPr txBox="1">
            <a:spLocks/>
          </p:cNvSpPr>
          <p:nvPr/>
        </p:nvSpPr>
        <p:spPr>
          <a:xfrm>
            <a:off x="624866" y="2746326"/>
            <a:ext cx="4825158" cy="3416301"/>
          </a:xfrm>
          <a:prstGeom prst="rect">
            <a:avLst/>
          </a:prstGeom>
        </p:spPr>
        <p:txBody>
          <a:bodyPr>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Font typeface="Wingdings 3" charset="2"/>
              <a:buNone/>
            </a:pPr>
            <a:r>
              <a:rPr lang="en-GB" b="1" dirty="0">
                <a:latin typeface="Bookman Old Style" panose="02050604050505020204" pitchFamily="18" charset="0"/>
                <a:ea typeface="Times New Roman" panose="02020603050405020304" pitchFamily="18" charset="0"/>
              </a:rPr>
              <a:t>What type of </a:t>
            </a:r>
            <a:r>
              <a:rPr lang="en-GB" b="1" dirty="0" err="1">
                <a:latin typeface="Bookman Old Style" panose="02050604050505020204" pitchFamily="18" charset="0"/>
                <a:ea typeface="Times New Roman" panose="02020603050405020304" pitchFamily="18" charset="0"/>
              </a:rPr>
              <a:t>jewelry</a:t>
            </a:r>
            <a:r>
              <a:rPr lang="en-GB" b="1" dirty="0">
                <a:latin typeface="Bookman Old Style" panose="02050604050505020204" pitchFamily="18" charset="0"/>
                <a:ea typeface="Times New Roman" panose="02020603050405020304" pitchFamily="18" charset="0"/>
              </a:rPr>
              <a:t> do you prefer?</a:t>
            </a:r>
            <a:endParaRPr lang="en-GB" dirty="0">
              <a:latin typeface="Bookman Old Style" panose="02050604050505020204" pitchFamily="18" charset="0"/>
              <a:ea typeface="Times New Roman" panose="02020603050405020304" pitchFamily="18" charset="0"/>
            </a:endParaRPr>
          </a:p>
          <a:p>
            <a:pPr marL="0" indent="0">
              <a:buNone/>
            </a:pPr>
            <a:endParaRPr lang="en-GB" dirty="0">
              <a:latin typeface="Bookman Old Style" panose="02050604050505020204" pitchFamily="18" charset="0"/>
            </a:endParaRPr>
          </a:p>
          <a:p>
            <a:pPr>
              <a:lnSpc>
                <a:spcPct val="110000"/>
              </a:lnSpc>
            </a:pPr>
            <a:r>
              <a:rPr lang="en-GB" dirty="0">
                <a:latin typeface="Bookman Old Style" panose="02050604050505020204" pitchFamily="18" charset="0"/>
              </a:rPr>
              <a:t>Neck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24.4%</a:t>
            </a:r>
          </a:p>
          <a:p>
            <a:pPr>
              <a:lnSpc>
                <a:spcPct val="110000"/>
              </a:lnSpc>
            </a:pPr>
            <a:r>
              <a:rPr lang="en-GB" dirty="0">
                <a:latin typeface="Bookman Old Style" panose="02050604050505020204" pitchFamily="18" charset="0"/>
              </a:rPr>
              <a:t>Hand &amp; Finger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15.6%</a:t>
            </a:r>
          </a:p>
          <a:p>
            <a:pPr>
              <a:lnSpc>
                <a:spcPct val="110000"/>
              </a:lnSpc>
            </a:pPr>
            <a:r>
              <a:rPr lang="en-GB" dirty="0">
                <a:latin typeface="Bookman Old Style" panose="02050604050505020204" pitchFamily="18" charset="0"/>
              </a:rPr>
              <a:t>Ear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20%</a:t>
            </a:r>
          </a:p>
          <a:p>
            <a:pPr>
              <a:lnSpc>
                <a:spcPct val="110000"/>
              </a:lnSpc>
            </a:pPr>
            <a:r>
              <a:rPr lang="en-GB" dirty="0">
                <a:latin typeface="Bookman Old Style" panose="02050604050505020204" pitchFamily="18" charset="0"/>
              </a:rPr>
              <a:t>Facial &amp; Body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2.2%</a:t>
            </a:r>
          </a:p>
          <a:p>
            <a:pPr>
              <a:lnSpc>
                <a:spcPct val="110000"/>
              </a:lnSpc>
            </a:pPr>
            <a:r>
              <a:rPr lang="en-GB" dirty="0">
                <a:latin typeface="Bookman Old Style" panose="02050604050505020204" pitchFamily="18" charset="0"/>
              </a:rPr>
              <a:t>Ankle &amp; Foot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2.2%</a:t>
            </a:r>
          </a:p>
          <a:p>
            <a:pPr>
              <a:lnSpc>
                <a:spcPct val="110000"/>
              </a:lnSpc>
            </a:pPr>
            <a:r>
              <a:rPr lang="en-GB" dirty="0">
                <a:latin typeface="Bookman Old Style" panose="02050604050505020204" pitchFamily="18" charset="0"/>
              </a:rPr>
              <a:t>Brooches &amp; Pin                           </a:t>
            </a:r>
            <a:r>
              <a:rPr lang="en-GB" b="1" dirty="0">
                <a:latin typeface="Bookman Old Style" panose="02050604050505020204" pitchFamily="18" charset="0"/>
              </a:rPr>
              <a:t>2.2%</a:t>
            </a:r>
          </a:p>
          <a:p>
            <a:pPr>
              <a:lnSpc>
                <a:spcPct val="110000"/>
              </a:lnSpc>
            </a:pPr>
            <a:r>
              <a:rPr lang="en-GB" dirty="0">
                <a:latin typeface="Bookman Old Style" panose="02050604050505020204" pitchFamily="18" charset="0"/>
              </a:rPr>
              <a:t>Watches &amp; Functional </a:t>
            </a:r>
            <a:r>
              <a:rPr lang="en-GB" dirty="0" err="1">
                <a:latin typeface="Bookman Old Style" panose="02050604050505020204" pitchFamily="18" charset="0"/>
              </a:rPr>
              <a:t>Jewelry</a:t>
            </a:r>
            <a:r>
              <a:rPr lang="en-GB" dirty="0">
                <a:latin typeface="Bookman Old Style" panose="02050604050505020204" pitchFamily="18" charset="0"/>
              </a:rPr>
              <a:t>    </a:t>
            </a:r>
            <a:r>
              <a:rPr lang="en-GB" b="1" dirty="0">
                <a:latin typeface="Bookman Old Style" panose="02050604050505020204" pitchFamily="18" charset="0"/>
              </a:rPr>
              <a:t>33.3%</a:t>
            </a:r>
          </a:p>
        </p:txBody>
      </p:sp>
      <p:cxnSp>
        <p:nvCxnSpPr>
          <p:cNvPr id="29" name="Straight Connector 28">
            <a:extLst>
              <a:ext uri="{FF2B5EF4-FFF2-40B4-BE49-F238E27FC236}">
                <a16:creationId xmlns:a16="http://schemas.microsoft.com/office/drawing/2014/main" id="{190DC635-6C30-41C4-9879-2C742543EAD2}"/>
              </a:ext>
            </a:extLst>
          </p:cNvPr>
          <p:cNvCxnSpPr>
            <a:cxnSpLocks/>
          </p:cNvCxnSpPr>
          <p:nvPr/>
        </p:nvCxnSpPr>
        <p:spPr>
          <a:xfrm>
            <a:off x="4393956" y="3429000"/>
            <a:ext cx="0" cy="27336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499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6327B7-54A0-4E29-A7EF-E21F4D735BFC}"/>
              </a:ext>
            </a:extLst>
          </p:cNvPr>
          <p:cNvSpPr txBox="1"/>
          <p:nvPr/>
        </p:nvSpPr>
        <p:spPr>
          <a:xfrm>
            <a:off x="1683026" y="2902225"/>
            <a:ext cx="9117495" cy="2342116"/>
          </a:xfrm>
          <a:prstGeom prst="rect">
            <a:avLst/>
          </a:prstGeom>
          <a:noFill/>
        </p:spPr>
        <p:txBody>
          <a:bodyPr wrap="square" rtlCol="0">
            <a:spAutoFit/>
          </a:bodyPr>
          <a:lstStyle/>
          <a:p>
            <a:pPr>
              <a:lnSpc>
                <a:spcPct val="150000"/>
              </a:lnSpc>
            </a:pPr>
            <a:r>
              <a:rPr lang="en-US" sz="2000" dirty="0"/>
              <a:t>From the frequency analysis it appears that 33.3% of the respondents prefers watches &amp; functional jewelry.</a:t>
            </a:r>
          </a:p>
          <a:p>
            <a:pPr>
              <a:lnSpc>
                <a:spcPct val="150000"/>
              </a:lnSpc>
            </a:pPr>
            <a:endParaRPr lang="en-US" sz="2000" dirty="0"/>
          </a:p>
          <a:p>
            <a:pPr>
              <a:lnSpc>
                <a:spcPct val="150000"/>
              </a:lnSpc>
            </a:pPr>
            <a:r>
              <a:rPr lang="en-GB" sz="2000" dirty="0"/>
              <a:t>24.4% prefers neck </a:t>
            </a:r>
            <a:r>
              <a:rPr lang="en-GB" sz="2000" dirty="0" err="1"/>
              <a:t>jewelry</a:t>
            </a:r>
            <a:r>
              <a:rPr lang="en-GB" sz="2000" dirty="0"/>
              <a:t>, 20% prefers ear </a:t>
            </a:r>
            <a:r>
              <a:rPr lang="en-GB" sz="2000" dirty="0" err="1"/>
              <a:t>jewelry</a:t>
            </a:r>
            <a:r>
              <a:rPr lang="en-GB" sz="2000" dirty="0"/>
              <a:t> and another 15.6% of the respondents prefers hands &amp; finger </a:t>
            </a:r>
            <a:r>
              <a:rPr lang="en-GB" sz="2000" dirty="0" err="1"/>
              <a:t>jewelry</a:t>
            </a:r>
            <a:endParaRPr lang="en-GB" sz="2000" dirty="0"/>
          </a:p>
        </p:txBody>
      </p:sp>
      <p:sp>
        <p:nvSpPr>
          <p:cNvPr id="6" name="TextBox 5">
            <a:extLst>
              <a:ext uri="{FF2B5EF4-FFF2-40B4-BE49-F238E27FC236}">
                <a16:creationId xmlns:a16="http://schemas.microsoft.com/office/drawing/2014/main" id="{9F51BE96-9144-48F8-B2E4-E06CB275047D}"/>
              </a:ext>
            </a:extLst>
          </p:cNvPr>
          <p:cNvSpPr txBox="1"/>
          <p:nvPr/>
        </p:nvSpPr>
        <p:spPr>
          <a:xfrm>
            <a:off x="4412974" y="2036145"/>
            <a:ext cx="6096000" cy="591829"/>
          </a:xfrm>
          <a:prstGeom prst="rect">
            <a:avLst/>
          </a:prstGeom>
          <a:noFill/>
        </p:spPr>
        <p:txBody>
          <a:bodyPr wrap="square">
            <a:spAutoFit/>
          </a:bodyPr>
          <a:lstStyle/>
          <a:p>
            <a:pPr>
              <a:lnSpc>
                <a:spcPct val="150000"/>
              </a:lnSpc>
            </a:pPr>
            <a:r>
              <a:rPr lang="en-US" sz="2400" b="1" dirty="0">
                <a:latin typeface="Baskerville Old Face" panose="02020602080505020303" pitchFamily="18" charset="0"/>
                <a:cs typeface="MV Boli" panose="02000500030200090000" pitchFamily="2" charset="0"/>
              </a:rPr>
              <a:t>Frequency Analysis</a:t>
            </a:r>
          </a:p>
        </p:txBody>
      </p:sp>
    </p:spTree>
    <p:extLst>
      <p:ext uri="{BB962C8B-B14F-4D97-AF65-F5344CB8AC3E}">
        <p14:creationId xmlns:p14="http://schemas.microsoft.com/office/powerpoint/2010/main" val="3862238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2380-CAEA-4A3E-98B3-15A7D720C28F}"/>
              </a:ext>
            </a:extLst>
          </p:cNvPr>
          <p:cNvSpPr>
            <a:spLocks noGrp="1"/>
          </p:cNvSpPr>
          <p:nvPr>
            <p:ph type="title"/>
          </p:nvPr>
        </p:nvSpPr>
        <p:spPr>
          <a:xfrm>
            <a:off x="1406746" y="973668"/>
            <a:ext cx="8761413" cy="706964"/>
          </a:xfrm>
        </p:spPr>
        <p:txBody>
          <a:bodyPr/>
          <a:lstStyle/>
          <a:p>
            <a:r>
              <a:rPr lang="en-US" sz="3600" b="1" dirty="0">
                <a:latin typeface="Copperplate Gothic Bold" panose="020E0705020206020404" pitchFamily="34" charset="0"/>
              </a:rPr>
              <a:t>Chi Square Test Analysis</a:t>
            </a:r>
            <a:endParaRPr lang="en-GB" dirty="0"/>
          </a:p>
        </p:txBody>
      </p:sp>
      <p:sp>
        <p:nvSpPr>
          <p:cNvPr id="3" name="TextBox 2">
            <a:extLst>
              <a:ext uri="{FF2B5EF4-FFF2-40B4-BE49-F238E27FC236}">
                <a16:creationId xmlns:a16="http://schemas.microsoft.com/office/drawing/2014/main" id="{D00F9674-8168-410A-A39B-9B380A9F82FE}"/>
              </a:ext>
            </a:extLst>
          </p:cNvPr>
          <p:cNvSpPr txBox="1"/>
          <p:nvPr/>
        </p:nvSpPr>
        <p:spPr>
          <a:xfrm>
            <a:off x="4399721" y="1680632"/>
            <a:ext cx="3021495" cy="369332"/>
          </a:xfrm>
          <a:prstGeom prst="rect">
            <a:avLst/>
          </a:prstGeom>
          <a:noFill/>
        </p:spPr>
        <p:txBody>
          <a:bodyPr wrap="square" rtlCol="0">
            <a:spAutoFit/>
          </a:bodyPr>
          <a:lstStyle/>
          <a:p>
            <a:r>
              <a:rPr lang="en-US" dirty="0">
                <a:solidFill>
                  <a:schemeClr val="bg1"/>
                </a:solidFill>
                <a:latin typeface="Baskerville Old Face" panose="02020602080505020303" pitchFamily="18" charset="0"/>
              </a:rPr>
              <a:t>Customer preference</a:t>
            </a:r>
            <a:endParaRPr lang="en-GB" dirty="0">
              <a:solidFill>
                <a:schemeClr val="bg1"/>
              </a:solidFill>
              <a:latin typeface="Baskerville Old Face" panose="02020602080505020303" pitchFamily="18" charset="0"/>
            </a:endParaRPr>
          </a:p>
        </p:txBody>
      </p:sp>
      <p:sp>
        <p:nvSpPr>
          <p:cNvPr id="4" name="Rectangle 3">
            <a:extLst>
              <a:ext uri="{FF2B5EF4-FFF2-40B4-BE49-F238E27FC236}">
                <a16:creationId xmlns:a16="http://schemas.microsoft.com/office/drawing/2014/main" id="{4B3B47BE-865D-47EF-93F6-5B796161308F}"/>
              </a:ext>
            </a:extLst>
          </p:cNvPr>
          <p:cNvSpPr/>
          <p:nvPr/>
        </p:nvSpPr>
        <p:spPr>
          <a:xfrm>
            <a:off x="4797285" y="2584484"/>
            <a:ext cx="2226365" cy="513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P-VALUE = 0.074</a:t>
            </a:r>
            <a:endParaRPr lang="en-GB" b="1" dirty="0">
              <a:solidFill>
                <a:schemeClr val="bg1"/>
              </a:solidFill>
            </a:endParaRPr>
          </a:p>
        </p:txBody>
      </p:sp>
      <p:sp>
        <p:nvSpPr>
          <p:cNvPr id="5" name="TextBox 4">
            <a:extLst>
              <a:ext uri="{FF2B5EF4-FFF2-40B4-BE49-F238E27FC236}">
                <a16:creationId xmlns:a16="http://schemas.microsoft.com/office/drawing/2014/main" id="{5ED09F16-9122-43D8-9289-2503C2122A54}"/>
              </a:ext>
            </a:extLst>
          </p:cNvPr>
          <p:cNvSpPr txBox="1"/>
          <p:nvPr/>
        </p:nvSpPr>
        <p:spPr>
          <a:xfrm>
            <a:off x="187545" y="3598957"/>
            <a:ext cx="5243831" cy="2165145"/>
          </a:xfrm>
          <a:prstGeom prst="rect">
            <a:avLst/>
          </a:prstGeom>
          <a:noFill/>
        </p:spPr>
        <p:txBody>
          <a:bodyPr wrap="square" rtlCol="0">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relationship b/w the type of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piece people prefer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their Age group</a:t>
            </a: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 name="TextBox 5">
            <a:extLst>
              <a:ext uri="{FF2B5EF4-FFF2-40B4-BE49-F238E27FC236}">
                <a16:creationId xmlns:a16="http://schemas.microsoft.com/office/drawing/2014/main" id="{7CE9F432-0B7A-44CB-A1FC-DE34D60A5087}"/>
              </a:ext>
            </a:extLst>
          </p:cNvPr>
          <p:cNvSpPr txBox="1"/>
          <p:nvPr/>
        </p:nvSpPr>
        <p:spPr>
          <a:xfrm>
            <a:off x="6760626" y="3569572"/>
            <a:ext cx="5431376" cy="968278"/>
          </a:xfrm>
          <a:prstGeom prst="rect">
            <a:avLst/>
          </a:prstGeom>
          <a:noFill/>
        </p:spPr>
        <p:txBody>
          <a:bodyPr wrap="square" rtlCol="0">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Alternative Hypothesis: There is a relationship b/w the type of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piece people prefer </a:t>
            </a:r>
            <a:r>
              <a:rPr lang="en-GB" sz="18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their Age group</a:t>
            </a:r>
          </a:p>
        </p:txBody>
      </p:sp>
      <p:sp>
        <p:nvSpPr>
          <p:cNvPr id="7" name="TextBox 6">
            <a:extLst>
              <a:ext uri="{FF2B5EF4-FFF2-40B4-BE49-F238E27FC236}">
                <a16:creationId xmlns:a16="http://schemas.microsoft.com/office/drawing/2014/main" id="{7C60851D-1D23-4DFA-9D82-4C6AACEC9F10}"/>
              </a:ext>
            </a:extLst>
          </p:cNvPr>
          <p:cNvSpPr txBox="1"/>
          <p:nvPr/>
        </p:nvSpPr>
        <p:spPr>
          <a:xfrm>
            <a:off x="4758534" y="4808036"/>
            <a:ext cx="2057835" cy="369332"/>
          </a:xfrm>
          <a:prstGeom prst="rect">
            <a:avLst/>
          </a:prstGeom>
          <a:noFill/>
        </p:spPr>
        <p:txBody>
          <a:bodyPr wrap="square" rtlCol="0">
            <a:spAutoFit/>
          </a:bodyPr>
          <a:lstStyle/>
          <a:p>
            <a:pPr algn="ctr"/>
            <a:r>
              <a:rPr lang="en-US" b="1" dirty="0"/>
              <a:t>RESULT</a:t>
            </a:r>
            <a:endParaRPr lang="en-GB" b="1" dirty="0"/>
          </a:p>
        </p:txBody>
      </p:sp>
      <p:sp>
        <p:nvSpPr>
          <p:cNvPr id="9" name="TextBox 8">
            <a:extLst>
              <a:ext uri="{FF2B5EF4-FFF2-40B4-BE49-F238E27FC236}">
                <a16:creationId xmlns:a16="http://schemas.microsoft.com/office/drawing/2014/main" id="{9C21EC15-6B69-4AC2-ABA2-028EF8FB081D}"/>
              </a:ext>
            </a:extLst>
          </p:cNvPr>
          <p:cNvSpPr txBox="1"/>
          <p:nvPr/>
        </p:nvSpPr>
        <p:spPr>
          <a:xfrm>
            <a:off x="577838" y="5317346"/>
            <a:ext cx="11092070" cy="646331"/>
          </a:xfrm>
          <a:prstGeom prst="rect">
            <a:avLst/>
          </a:prstGeom>
          <a:noFill/>
        </p:spPr>
        <p:txBody>
          <a:bodyPr wrap="square" rtlCol="0">
            <a:spAutoFit/>
          </a:bodyPr>
          <a:lstStyle/>
          <a:p>
            <a:r>
              <a:rPr lang="en-US" dirty="0"/>
              <a:t>Following the above test, it appears that frequency of the type of jewelry piece the respondents prefer is not influenced by their Age. </a:t>
            </a:r>
            <a:endParaRPr lang="en-GB" dirty="0"/>
          </a:p>
        </p:txBody>
      </p:sp>
    </p:spTree>
    <p:extLst>
      <p:ext uri="{BB962C8B-B14F-4D97-AF65-F5344CB8AC3E}">
        <p14:creationId xmlns:p14="http://schemas.microsoft.com/office/powerpoint/2010/main" val="2029298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64D5-6CE6-4F2C-BE73-35FA1A9952B5}"/>
              </a:ext>
            </a:extLst>
          </p:cNvPr>
          <p:cNvSpPr>
            <a:spLocks noGrp="1"/>
          </p:cNvSpPr>
          <p:nvPr>
            <p:ph type="title"/>
          </p:nvPr>
        </p:nvSpPr>
        <p:spPr/>
        <p:txBody>
          <a:bodyPr/>
          <a:lstStyle/>
          <a:p>
            <a:pPr algn="ctr"/>
            <a:r>
              <a:rPr lang="en-US" dirty="0">
                <a:latin typeface="Copperplate Gothic Bold" panose="020E0705020206020404" pitchFamily="34" charset="0"/>
              </a:rPr>
              <a:t>REPORT</a:t>
            </a:r>
            <a:endParaRPr lang="en-GB" dirty="0"/>
          </a:p>
        </p:txBody>
      </p:sp>
      <p:sp>
        <p:nvSpPr>
          <p:cNvPr id="3" name="TextBox 2">
            <a:extLst>
              <a:ext uri="{FF2B5EF4-FFF2-40B4-BE49-F238E27FC236}">
                <a16:creationId xmlns:a16="http://schemas.microsoft.com/office/drawing/2014/main" id="{436AB61D-E584-425D-9B89-3055AE1BD72A}"/>
              </a:ext>
            </a:extLst>
          </p:cNvPr>
          <p:cNvSpPr txBox="1"/>
          <p:nvPr/>
        </p:nvSpPr>
        <p:spPr>
          <a:xfrm>
            <a:off x="4744278" y="1678238"/>
            <a:ext cx="2425148" cy="369332"/>
          </a:xfrm>
          <a:prstGeom prst="rect">
            <a:avLst/>
          </a:prstGeom>
          <a:noFill/>
        </p:spPr>
        <p:txBody>
          <a:bodyPr wrap="square" rtlCol="0">
            <a:spAutoFit/>
          </a:bodyPr>
          <a:lstStyle/>
          <a:p>
            <a:r>
              <a:rPr lang="en-GB" sz="1800" kern="100" dirty="0">
                <a:solidFill>
                  <a:schemeClr val="bg1"/>
                </a:solidFill>
                <a:effectLst/>
                <a:latin typeface="Bookman Old Style" panose="02050604050505020204" pitchFamily="18" charset="0"/>
                <a:ea typeface="Calibri" panose="020F0502020204030204" pitchFamily="34" charset="0"/>
                <a:cs typeface="Times New Roman" panose="02020603050405020304" pitchFamily="18" charset="0"/>
              </a:rPr>
              <a:t>Pricing Strategy</a:t>
            </a:r>
            <a:endParaRPr lang="en-GB" dirty="0">
              <a:solidFill>
                <a:schemeClr val="bg1"/>
              </a:solidFill>
            </a:endParaRPr>
          </a:p>
        </p:txBody>
      </p:sp>
      <p:sp>
        <p:nvSpPr>
          <p:cNvPr id="4" name="TextBox 3">
            <a:extLst>
              <a:ext uri="{FF2B5EF4-FFF2-40B4-BE49-F238E27FC236}">
                <a16:creationId xmlns:a16="http://schemas.microsoft.com/office/drawing/2014/main" id="{D723AA65-EEA5-4550-BADB-EB68958D9DE1}"/>
              </a:ext>
            </a:extLst>
          </p:cNvPr>
          <p:cNvSpPr txBox="1"/>
          <p:nvPr/>
        </p:nvSpPr>
        <p:spPr>
          <a:xfrm>
            <a:off x="159027" y="2470497"/>
            <a:ext cx="5075581" cy="461665"/>
          </a:xfrm>
          <a:prstGeom prst="rect">
            <a:avLst/>
          </a:prstGeom>
          <a:noFill/>
        </p:spPr>
        <p:txBody>
          <a:bodyPr wrap="square" rtlCol="0">
            <a:spAutoFit/>
          </a:bodyPr>
          <a:lstStyle/>
          <a:p>
            <a:r>
              <a:rPr lang="en-US" sz="2400" b="1" dirty="0">
                <a:latin typeface="Baskerville Old Face" panose="02020602080505020303" pitchFamily="18" charset="0"/>
                <a:cs typeface="MV Boli" panose="02000500030200090000" pitchFamily="2" charset="0"/>
              </a:rPr>
              <a:t>The Average willingness price:</a:t>
            </a:r>
          </a:p>
        </p:txBody>
      </p:sp>
      <p:sp>
        <p:nvSpPr>
          <p:cNvPr id="5" name="Rectangle 4">
            <a:extLst>
              <a:ext uri="{FF2B5EF4-FFF2-40B4-BE49-F238E27FC236}">
                <a16:creationId xmlns:a16="http://schemas.microsoft.com/office/drawing/2014/main" id="{FBC38227-A664-40BE-A2EA-AD21D0CB7752}"/>
              </a:ext>
            </a:extLst>
          </p:cNvPr>
          <p:cNvSpPr/>
          <p:nvPr/>
        </p:nvSpPr>
        <p:spPr>
          <a:xfrm>
            <a:off x="809051" y="3034085"/>
            <a:ext cx="1633766" cy="492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307A2D0-A0F8-47EF-92C4-1EF44D0CE424}"/>
              </a:ext>
            </a:extLst>
          </p:cNvPr>
          <p:cNvSpPr txBox="1"/>
          <p:nvPr/>
        </p:nvSpPr>
        <p:spPr>
          <a:xfrm>
            <a:off x="929523" y="3032167"/>
            <a:ext cx="1815548" cy="400110"/>
          </a:xfrm>
          <a:prstGeom prst="rect">
            <a:avLst/>
          </a:prstGeom>
          <a:noFill/>
        </p:spPr>
        <p:txBody>
          <a:bodyPr wrap="square" rtlCol="0">
            <a:spAutoFit/>
          </a:bodyPr>
          <a:lstStyle/>
          <a:p>
            <a:r>
              <a:rPr lang="en-GB" sz="2000" b="1" kern="0" dirty="0">
                <a:solidFill>
                  <a:schemeClr val="bg1"/>
                </a:solidFill>
                <a:effectLst/>
                <a:latin typeface="Arial Black" panose="020B0A04020102020204" pitchFamily="34" charset="0"/>
                <a:ea typeface="Calibri" panose="020F0502020204030204" pitchFamily="34" charset="0"/>
              </a:rPr>
              <a:t>N135,633</a:t>
            </a:r>
            <a:endParaRPr lang="en-GB" sz="2000" b="1" dirty="0">
              <a:solidFill>
                <a:schemeClr val="bg1"/>
              </a:solidFill>
              <a:latin typeface="Arial Black" panose="020B0A04020102020204" pitchFamily="34" charset="0"/>
            </a:endParaRPr>
          </a:p>
        </p:txBody>
      </p:sp>
      <p:sp>
        <p:nvSpPr>
          <p:cNvPr id="8" name="TextBox 7">
            <a:extLst>
              <a:ext uri="{FF2B5EF4-FFF2-40B4-BE49-F238E27FC236}">
                <a16:creationId xmlns:a16="http://schemas.microsoft.com/office/drawing/2014/main" id="{F1E8034D-A63F-4CDB-AFA7-E13211B03CAF}"/>
              </a:ext>
            </a:extLst>
          </p:cNvPr>
          <p:cNvSpPr txBox="1"/>
          <p:nvPr/>
        </p:nvSpPr>
        <p:spPr>
          <a:xfrm>
            <a:off x="159027" y="3823915"/>
            <a:ext cx="2570922" cy="400110"/>
          </a:xfrm>
          <a:prstGeom prst="rect">
            <a:avLst/>
          </a:prstGeom>
          <a:noFill/>
        </p:spPr>
        <p:txBody>
          <a:bodyPr wrap="square" rtlCol="0">
            <a:spAutoFit/>
          </a:bodyPr>
          <a:lstStyle/>
          <a:p>
            <a:r>
              <a:rPr lang="en-GB" sz="2000" dirty="0">
                <a:effectLst/>
                <a:latin typeface="Britannic Bold" panose="020B0903060703020204" pitchFamily="34" charset="0"/>
                <a:ea typeface="Calibri" panose="020F0502020204030204" pitchFamily="34" charset="0"/>
                <a:cs typeface="Times New Roman" panose="02020603050405020304" pitchFamily="18" charset="0"/>
              </a:rPr>
              <a:t>Mann Whitney Test :</a:t>
            </a:r>
            <a:endParaRPr lang="en-GB" sz="2000" dirty="0">
              <a:latin typeface="Britannic Bold" panose="020B0903060703020204" pitchFamily="34" charset="0"/>
            </a:endParaRPr>
          </a:p>
        </p:txBody>
      </p:sp>
      <p:sp>
        <p:nvSpPr>
          <p:cNvPr id="10" name="TextBox 9">
            <a:extLst>
              <a:ext uri="{FF2B5EF4-FFF2-40B4-BE49-F238E27FC236}">
                <a16:creationId xmlns:a16="http://schemas.microsoft.com/office/drawing/2014/main" id="{85ED07F5-5428-425F-815E-B736CE50C331}"/>
              </a:ext>
            </a:extLst>
          </p:cNvPr>
          <p:cNvSpPr txBox="1"/>
          <p:nvPr/>
        </p:nvSpPr>
        <p:spPr>
          <a:xfrm>
            <a:off x="4810532" y="5324822"/>
            <a:ext cx="2057835" cy="369332"/>
          </a:xfrm>
          <a:prstGeom prst="rect">
            <a:avLst/>
          </a:prstGeom>
          <a:noFill/>
        </p:spPr>
        <p:txBody>
          <a:bodyPr wrap="square" rtlCol="0">
            <a:spAutoFit/>
          </a:bodyPr>
          <a:lstStyle/>
          <a:p>
            <a:pPr algn="ctr"/>
            <a:r>
              <a:rPr lang="en-US" b="1" dirty="0"/>
              <a:t>RESULT</a:t>
            </a:r>
            <a:endParaRPr lang="en-GB" b="1" dirty="0"/>
          </a:p>
        </p:txBody>
      </p:sp>
      <p:sp>
        <p:nvSpPr>
          <p:cNvPr id="11" name="TextBox 10">
            <a:extLst>
              <a:ext uri="{FF2B5EF4-FFF2-40B4-BE49-F238E27FC236}">
                <a16:creationId xmlns:a16="http://schemas.microsoft.com/office/drawing/2014/main" id="{607A06A1-6196-4944-85FE-9A67B22AA0A7}"/>
              </a:ext>
            </a:extLst>
          </p:cNvPr>
          <p:cNvSpPr txBox="1"/>
          <p:nvPr/>
        </p:nvSpPr>
        <p:spPr>
          <a:xfrm>
            <a:off x="657903" y="5741312"/>
            <a:ext cx="11092070" cy="646331"/>
          </a:xfrm>
          <a:prstGeom prst="rect">
            <a:avLst/>
          </a:prstGeom>
          <a:noFill/>
        </p:spPr>
        <p:txBody>
          <a:bodyPr wrap="square" rtlCol="0">
            <a:spAutoFit/>
          </a:bodyPr>
          <a:lstStyle/>
          <a:p>
            <a:r>
              <a:rPr lang="en-US" dirty="0"/>
              <a:t>Following the above test, it appears that the difference in price from the respondents is  influenced by their gender, (female) are likely to spend more on jewelry.</a:t>
            </a:r>
            <a:endParaRPr lang="en-GB" dirty="0"/>
          </a:p>
        </p:txBody>
      </p:sp>
      <p:sp>
        <p:nvSpPr>
          <p:cNvPr id="12" name="Rectangle 11">
            <a:extLst>
              <a:ext uri="{FF2B5EF4-FFF2-40B4-BE49-F238E27FC236}">
                <a16:creationId xmlns:a16="http://schemas.microsoft.com/office/drawing/2014/main" id="{B4A5A6BF-42B6-4D05-83C1-1CE3C88B22F0}"/>
              </a:ext>
            </a:extLst>
          </p:cNvPr>
          <p:cNvSpPr/>
          <p:nvPr/>
        </p:nvSpPr>
        <p:spPr>
          <a:xfrm>
            <a:off x="7540486" y="3029055"/>
            <a:ext cx="2111513" cy="492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P-VALUE = 0.027</a:t>
            </a:r>
            <a:endParaRPr lang="en-GB" b="1" dirty="0">
              <a:solidFill>
                <a:schemeClr val="bg1"/>
              </a:solidFill>
            </a:endParaRPr>
          </a:p>
        </p:txBody>
      </p:sp>
      <p:sp>
        <p:nvSpPr>
          <p:cNvPr id="14" name="TextBox 13">
            <a:extLst>
              <a:ext uri="{FF2B5EF4-FFF2-40B4-BE49-F238E27FC236}">
                <a16:creationId xmlns:a16="http://schemas.microsoft.com/office/drawing/2014/main" id="{ED2E35FB-3BF0-450E-B53C-F5ED4928D23C}"/>
              </a:ext>
            </a:extLst>
          </p:cNvPr>
          <p:cNvSpPr txBox="1"/>
          <p:nvPr/>
        </p:nvSpPr>
        <p:spPr>
          <a:xfrm>
            <a:off x="6868367" y="2609988"/>
            <a:ext cx="6096000" cy="369332"/>
          </a:xfrm>
          <a:prstGeom prst="rect">
            <a:avLst/>
          </a:prstGeom>
          <a:noFill/>
        </p:spPr>
        <p:txBody>
          <a:bodyPr wrap="square">
            <a:spAutoFit/>
          </a:bodyPr>
          <a:lstStyle/>
          <a:p>
            <a:r>
              <a:rPr lang="en-US" sz="1800" b="1" dirty="0">
                <a:latin typeface="Copperplate Gothic Bold" panose="020E0705020206020404" pitchFamily="34" charset="0"/>
              </a:rPr>
              <a:t>Chi Square Test Analysis</a:t>
            </a:r>
            <a:endParaRPr lang="en-GB" dirty="0"/>
          </a:p>
        </p:txBody>
      </p:sp>
      <p:sp>
        <p:nvSpPr>
          <p:cNvPr id="16" name="TextBox 15">
            <a:extLst>
              <a:ext uri="{FF2B5EF4-FFF2-40B4-BE49-F238E27FC236}">
                <a16:creationId xmlns:a16="http://schemas.microsoft.com/office/drawing/2014/main" id="{D1B0E766-D035-42D9-8D6C-034241154D0E}"/>
              </a:ext>
            </a:extLst>
          </p:cNvPr>
          <p:cNvSpPr txBox="1"/>
          <p:nvPr/>
        </p:nvSpPr>
        <p:spPr>
          <a:xfrm>
            <a:off x="385017" y="4096918"/>
            <a:ext cx="6244383" cy="1302921"/>
          </a:xfrm>
          <a:prstGeom prst="rect">
            <a:avLst/>
          </a:prstGeom>
          <a:noFill/>
        </p:spPr>
        <p:txBody>
          <a:bodyPr wrap="square">
            <a:spAutoFit/>
          </a:bodyPr>
          <a:lstStyle/>
          <a:p>
            <a:pPr>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significant difference in price between male and female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Alternative Hypothesis: There is a significant difference in price between male and female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9220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C00B0-900E-453D-8675-E8805721B110}"/>
              </a:ext>
            </a:extLst>
          </p:cNvPr>
          <p:cNvSpPr>
            <a:spLocks noGrp="1"/>
          </p:cNvSpPr>
          <p:nvPr>
            <p:ph type="title"/>
          </p:nvPr>
        </p:nvSpPr>
        <p:spPr>
          <a:xfrm>
            <a:off x="1537252" y="813075"/>
            <a:ext cx="8761413" cy="706964"/>
          </a:xfrm>
        </p:spPr>
        <p:txBody>
          <a:bodyPr/>
          <a:lstStyle/>
          <a:p>
            <a:pPr algn="ctr"/>
            <a:r>
              <a:rPr lang="en-US" dirty="0">
                <a:latin typeface="Copperplate Gothic Bold" panose="020E0705020206020404" pitchFamily="34" charset="0"/>
              </a:rPr>
              <a:t>REPORT</a:t>
            </a:r>
            <a:endParaRPr lang="en-GB" dirty="0"/>
          </a:p>
        </p:txBody>
      </p:sp>
      <p:sp>
        <p:nvSpPr>
          <p:cNvPr id="3" name="TextBox 2">
            <a:extLst>
              <a:ext uri="{FF2B5EF4-FFF2-40B4-BE49-F238E27FC236}">
                <a16:creationId xmlns:a16="http://schemas.microsoft.com/office/drawing/2014/main" id="{82AECF56-65F4-49D1-9907-6917EDADDA9D}"/>
              </a:ext>
            </a:extLst>
          </p:cNvPr>
          <p:cNvSpPr txBox="1"/>
          <p:nvPr/>
        </p:nvSpPr>
        <p:spPr>
          <a:xfrm>
            <a:off x="2566195" y="1700865"/>
            <a:ext cx="9285976" cy="338554"/>
          </a:xfrm>
          <a:prstGeom prst="rect">
            <a:avLst/>
          </a:prstGeom>
          <a:noFill/>
        </p:spPr>
        <p:txBody>
          <a:bodyPr wrap="square" rtlCol="0">
            <a:spAutoFit/>
          </a:bodyPr>
          <a:lstStyle/>
          <a:p>
            <a:r>
              <a:rPr lang="en-GB" sz="1600" b="1" dirty="0">
                <a:solidFill>
                  <a:schemeClr val="bg1"/>
                </a:solidFill>
                <a:latin typeface="Bookman Old Style" panose="02050604050505020204" pitchFamily="18" charset="0"/>
                <a:ea typeface="Times New Roman" panose="02020603050405020304" pitchFamily="18" charset="0"/>
              </a:rPr>
              <a:t>Business model:</a:t>
            </a:r>
            <a:r>
              <a:rPr lang="en-GB" sz="1600" b="1" dirty="0">
                <a:solidFill>
                  <a:schemeClr val="bg1"/>
                </a:solidFill>
                <a:effectLst/>
                <a:latin typeface="Bookman Old Style" panose="02050604050505020204" pitchFamily="18" charset="0"/>
                <a:ea typeface="Times New Roman" panose="02020603050405020304" pitchFamily="18" charset="0"/>
              </a:rPr>
              <a:t> what features would you like to experience</a:t>
            </a:r>
            <a:endParaRPr lang="en-GB" sz="1600" dirty="0">
              <a:solidFill>
                <a:schemeClr val="bg1"/>
              </a:solidFill>
            </a:endParaRPr>
          </a:p>
        </p:txBody>
      </p:sp>
      <p:sp>
        <p:nvSpPr>
          <p:cNvPr id="4" name="Rectangle 3">
            <a:extLst>
              <a:ext uri="{FF2B5EF4-FFF2-40B4-BE49-F238E27FC236}">
                <a16:creationId xmlns:a16="http://schemas.microsoft.com/office/drawing/2014/main" id="{20D36D23-0258-4500-9B16-30C02FED03DB}"/>
              </a:ext>
            </a:extLst>
          </p:cNvPr>
          <p:cNvSpPr/>
          <p:nvPr/>
        </p:nvSpPr>
        <p:spPr>
          <a:xfrm>
            <a:off x="1417981" y="3110948"/>
            <a:ext cx="11131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A9C9F0D1-837D-46DC-AC1C-C36C36EFA63A}"/>
              </a:ext>
            </a:extLst>
          </p:cNvPr>
          <p:cNvSpPr/>
          <p:nvPr/>
        </p:nvSpPr>
        <p:spPr>
          <a:xfrm>
            <a:off x="5333999" y="3110948"/>
            <a:ext cx="11131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8CE5E832-6B65-48D2-B2EA-2B6A0034840A}"/>
              </a:ext>
            </a:extLst>
          </p:cNvPr>
          <p:cNvSpPr/>
          <p:nvPr/>
        </p:nvSpPr>
        <p:spPr>
          <a:xfrm>
            <a:off x="9660836" y="3110948"/>
            <a:ext cx="111318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AA2C6EE7-BB17-4D4D-B288-607E528CAD7B}"/>
              </a:ext>
            </a:extLst>
          </p:cNvPr>
          <p:cNvSpPr txBox="1"/>
          <p:nvPr/>
        </p:nvSpPr>
        <p:spPr>
          <a:xfrm>
            <a:off x="1119805" y="2532695"/>
            <a:ext cx="2339011" cy="460767"/>
          </a:xfrm>
          <a:prstGeom prst="rect">
            <a:avLst/>
          </a:prstGeom>
          <a:noFill/>
        </p:spPr>
        <p:txBody>
          <a:bodyPr wrap="square" rtlCol="0">
            <a:spAutoFit/>
          </a:bodyPr>
          <a:lstStyle/>
          <a:p>
            <a:pPr>
              <a:lnSpc>
                <a:spcPct val="150000"/>
              </a:lnSpc>
            </a:pPr>
            <a:r>
              <a:rPr lang="en-GB" dirty="0">
                <a:latin typeface="Bookman Old Style" panose="02050604050505020204" pitchFamily="18" charset="0"/>
              </a:rPr>
              <a:t>Quality  </a:t>
            </a:r>
            <a:r>
              <a:rPr lang="en-GB" dirty="0" err="1">
                <a:latin typeface="Bookman Old Style" panose="02050604050505020204" pitchFamily="18" charset="0"/>
              </a:rPr>
              <a:t>jewelry</a:t>
            </a:r>
            <a:endParaRPr lang="en-GB" dirty="0">
              <a:latin typeface="Bookman Old Style" panose="02050604050505020204" pitchFamily="18" charset="0"/>
            </a:endParaRPr>
          </a:p>
        </p:txBody>
      </p:sp>
      <p:sp>
        <p:nvSpPr>
          <p:cNvPr id="8" name="TextBox 7">
            <a:extLst>
              <a:ext uri="{FF2B5EF4-FFF2-40B4-BE49-F238E27FC236}">
                <a16:creationId xmlns:a16="http://schemas.microsoft.com/office/drawing/2014/main" id="{00C5D1B4-AE87-4315-B83F-ADFB6BF3BE9F}"/>
              </a:ext>
            </a:extLst>
          </p:cNvPr>
          <p:cNvSpPr txBox="1"/>
          <p:nvPr/>
        </p:nvSpPr>
        <p:spPr>
          <a:xfrm>
            <a:off x="1272206" y="2763079"/>
            <a:ext cx="1557131" cy="369332"/>
          </a:xfrm>
          <a:prstGeom prst="rect">
            <a:avLst/>
          </a:prstGeom>
          <a:noFill/>
        </p:spPr>
        <p:txBody>
          <a:bodyPr wrap="square" rtlCol="0">
            <a:spAutoFit/>
          </a:bodyPr>
          <a:lstStyle/>
          <a:p>
            <a:endParaRPr lang="en-GB" dirty="0"/>
          </a:p>
        </p:txBody>
      </p:sp>
      <p:sp>
        <p:nvSpPr>
          <p:cNvPr id="9" name="TextBox 8">
            <a:extLst>
              <a:ext uri="{FF2B5EF4-FFF2-40B4-BE49-F238E27FC236}">
                <a16:creationId xmlns:a16="http://schemas.microsoft.com/office/drawing/2014/main" id="{2E893B4B-615E-4EF0-AFC7-C918CDC69675}"/>
              </a:ext>
            </a:extLst>
          </p:cNvPr>
          <p:cNvSpPr txBox="1"/>
          <p:nvPr/>
        </p:nvSpPr>
        <p:spPr>
          <a:xfrm>
            <a:off x="8733185" y="2532695"/>
            <a:ext cx="3041376" cy="460767"/>
          </a:xfrm>
          <a:prstGeom prst="rect">
            <a:avLst/>
          </a:prstGeom>
          <a:noFill/>
        </p:spPr>
        <p:txBody>
          <a:bodyPr wrap="square" rtlCol="0">
            <a:spAutoFit/>
          </a:bodyPr>
          <a:lstStyle/>
          <a:p>
            <a:pPr>
              <a:lnSpc>
                <a:spcPct val="150000"/>
              </a:lnSpc>
            </a:pPr>
            <a:r>
              <a:rPr lang="en-GB" dirty="0">
                <a:latin typeface="Bookman Old Style" panose="02050604050505020204" pitchFamily="18" charset="0"/>
              </a:rPr>
              <a:t>Great customer services</a:t>
            </a:r>
          </a:p>
        </p:txBody>
      </p:sp>
      <p:sp>
        <p:nvSpPr>
          <p:cNvPr id="10" name="TextBox 9">
            <a:extLst>
              <a:ext uri="{FF2B5EF4-FFF2-40B4-BE49-F238E27FC236}">
                <a16:creationId xmlns:a16="http://schemas.microsoft.com/office/drawing/2014/main" id="{0D6CA348-9A3B-464E-B971-DE90A85337CB}"/>
              </a:ext>
            </a:extLst>
          </p:cNvPr>
          <p:cNvSpPr txBox="1"/>
          <p:nvPr/>
        </p:nvSpPr>
        <p:spPr>
          <a:xfrm>
            <a:off x="4870172" y="2624130"/>
            <a:ext cx="2339011" cy="369332"/>
          </a:xfrm>
          <a:prstGeom prst="rect">
            <a:avLst/>
          </a:prstGeom>
          <a:noFill/>
        </p:spPr>
        <p:txBody>
          <a:bodyPr wrap="square" rtlCol="0">
            <a:spAutoFit/>
          </a:bodyPr>
          <a:lstStyle/>
          <a:p>
            <a:r>
              <a:rPr lang="en-US" dirty="0"/>
              <a:t>Affordable price</a:t>
            </a:r>
            <a:endParaRPr lang="en-GB" dirty="0"/>
          </a:p>
        </p:txBody>
      </p:sp>
      <p:sp>
        <p:nvSpPr>
          <p:cNvPr id="11" name="TextBox 10">
            <a:extLst>
              <a:ext uri="{FF2B5EF4-FFF2-40B4-BE49-F238E27FC236}">
                <a16:creationId xmlns:a16="http://schemas.microsoft.com/office/drawing/2014/main" id="{B6B01555-0D26-46B9-A923-939EC1F36F75}"/>
              </a:ext>
            </a:extLst>
          </p:cNvPr>
          <p:cNvSpPr txBox="1"/>
          <p:nvPr/>
        </p:nvSpPr>
        <p:spPr>
          <a:xfrm>
            <a:off x="1537252" y="3429000"/>
            <a:ext cx="1762539" cy="369332"/>
          </a:xfrm>
          <a:prstGeom prst="rect">
            <a:avLst/>
          </a:prstGeom>
          <a:noFill/>
        </p:spPr>
        <p:txBody>
          <a:bodyPr wrap="square" rtlCol="0">
            <a:spAutoFit/>
          </a:bodyPr>
          <a:lstStyle/>
          <a:p>
            <a:r>
              <a:rPr lang="en-US" b="1" dirty="0">
                <a:solidFill>
                  <a:schemeClr val="bg1"/>
                </a:solidFill>
              </a:rPr>
              <a:t>66.7%</a:t>
            </a:r>
            <a:endParaRPr lang="en-GB" b="1" dirty="0">
              <a:solidFill>
                <a:schemeClr val="bg1"/>
              </a:solidFill>
            </a:endParaRPr>
          </a:p>
        </p:txBody>
      </p:sp>
      <p:sp>
        <p:nvSpPr>
          <p:cNvPr id="12" name="TextBox 11">
            <a:extLst>
              <a:ext uri="{FF2B5EF4-FFF2-40B4-BE49-F238E27FC236}">
                <a16:creationId xmlns:a16="http://schemas.microsoft.com/office/drawing/2014/main" id="{CC2E5DB2-911E-425F-B41A-67FABE91201E}"/>
              </a:ext>
            </a:extLst>
          </p:cNvPr>
          <p:cNvSpPr txBox="1"/>
          <p:nvPr/>
        </p:nvSpPr>
        <p:spPr>
          <a:xfrm>
            <a:off x="5446644" y="3419925"/>
            <a:ext cx="1762539" cy="369332"/>
          </a:xfrm>
          <a:prstGeom prst="rect">
            <a:avLst/>
          </a:prstGeom>
          <a:noFill/>
        </p:spPr>
        <p:txBody>
          <a:bodyPr wrap="square" rtlCol="0">
            <a:spAutoFit/>
          </a:bodyPr>
          <a:lstStyle/>
          <a:p>
            <a:r>
              <a:rPr lang="en-US" b="1" dirty="0">
                <a:solidFill>
                  <a:schemeClr val="bg1"/>
                </a:solidFill>
              </a:rPr>
              <a:t>31.1%</a:t>
            </a:r>
            <a:endParaRPr lang="en-GB" b="1" dirty="0">
              <a:solidFill>
                <a:schemeClr val="bg1"/>
              </a:solidFill>
            </a:endParaRPr>
          </a:p>
        </p:txBody>
      </p:sp>
      <p:sp>
        <p:nvSpPr>
          <p:cNvPr id="13" name="TextBox 12">
            <a:extLst>
              <a:ext uri="{FF2B5EF4-FFF2-40B4-BE49-F238E27FC236}">
                <a16:creationId xmlns:a16="http://schemas.microsoft.com/office/drawing/2014/main" id="{6AA5CE12-BF06-4516-937A-D8DF13FB9410}"/>
              </a:ext>
            </a:extLst>
          </p:cNvPr>
          <p:cNvSpPr txBox="1"/>
          <p:nvPr/>
        </p:nvSpPr>
        <p:spPr>
          <a:xfrm>
            <a:off x="9773478" y="3324711"/>
            <a:ext cx="1762539" cy="369332"/>
          </a:xfrm>
          <a:prstGeom prst="rect">
            <a:avLst/>
          </a:prstGeom>
          <a:noFill/>
        </p:spPr>
        <p:txBody>
          <a:bodyPr wrap="square" rtlCol="0">
            <a:spAutoFit/>
          </a:bodyPr>
          <a:lstStyle/>
          <a:p>
            <a:r>
              <a:rPr lang="en-US" b="1" dirty="0">
                <a:solidFill>
                  <a:schemeClr val="bg1"/>
                </a:solidFill>
              </a:rPr>
              <a:t>2.2%</a:t>
            </a:r>
            <a:endParaRPr lang="en-GB" b="1" dirty="0">
              <a:solidFill>
                <a:schemeClr val="bg1"/>
              </a:solidFill>
            </a:endParaRPr>
          </a:p>
        </p:txBody>
      </p:sp>
      <p:sp>
        <p:nvSpPr>
          <p:cNvPr id="14" name="TextBox 13">
            <a:extLst>
              <a:ext uri="{FF2B5EF4-FFF2-40B4-BE49-F238E27FC236}">
                <a16:creationId xmlns:a16="http://schemas.microsoft.com/office/drawing/2014/main" id="{C1665389-43DD-4C1F-863D-75EB794B51E6}"/>
              </a:ext>
            </a:extLst>
          </p:cNvPr>
          <p:cNvSpPr txBox="1"/>
          <p:nvPr/>
        </p:nvSpPr>
        <p:spPr>
          <a:xfrm>
            <a:off x="4380706" y="4630088"/>
            <a:ext cx="6096000" cy="591829"/>
          </a:xfrm>
          <a:prstGeom prst="rect">
            <a:avLst/>
          </a:prstGeom>
          <a:noFill/>
        </p:spPr>
        <p:txBody>
          <a:bodyPr wrap="square">
            <a:spAutoFit/>
          </a:bodyPr>
          <a:lstStyle/>
          <a:p>
            <a:pPr>
              <a:lnSpc>
                <a:spcPct val="150000"/>
              </a:lnSpc>
            </a:pPr>
            <a:r>
              <a:rPr lang="en-US" sz="2400" b="1" dirty="0">
                <a:latin typeface="Baskerville Old Face" panose="02020602080505020303" pitchFamily="18" charset="0"/>
                <a:cs typeface="MV Boli" panose="02000500030200090000" pitchFamily="2" charset="0"/>
              </a:rPr>
              <a:t>Frequency Analysis</a:t>
            </a:r>
          </a:p>
        </p:txBody>
      </p:sp>
      <p:sp>
        <p:nvSpPr>
          <p:cNvPr id="15" name="TextBox 14">
            <a:extLst>
              <a:ext uri="{FF2B5EF4-FFF2-40B4-BE49-F238E27FC236}">
                <a16:creationId xmlns:a16="http://schemas.microsoft.com/office/drawing/2014/main" id="{F6CC3A98-37FE-4615-B362-AB2D5849BD06}"/>
              </a:ext>
            </a:extLst>
          </p:cNvPr>
          <p:cNvSpPr txBox="1"/>
          <p:nvPr/>
        </p:nvSpPr>
        <p:spPr>
          <a:xfrm>
            <a:off x="1715293" y="5340262"/>
            <a:ext cx="8761413" cy="1701684"/>
          </a:xfrm>
          <a:prstGeom prst="rect">
            <a:avLst/>
          </a:prstGeom>
          <a:noFill/>
        </p:spPr>
        <p:txBody>
          <a:bodyPr wrap="square" rtlCol="0">
            <a:spAutoFit/>
          </a:bodyPr>
          <a:lstStyle/>
          <a:p>
            <a:pPr>
              <a:lnSpc>
                <a:spcPct val="150000"/>
              </a:lnSpc>
            </a:pPr>
            <a:r>
              <a:rPr lang="en-US" sz="1800" dirty="0"/>
              <a:t>From the frequency analysis it appears that 66.7% of the respondents chose quality jewelry as the feature they would like to experience, 31.1% chose affordable price.</a:t>
            </a:r>
          </a:p>
          <a:p>
            <a:pPr>
              <a:lnSpc>
                <a:spcPct val="150000"/>
              </a:lnSpc>
            </a:pPr>
            <a:endParaRPr lang="en-US" sz="1800" dirty="0"/>
          </a:p>
        </p:txBody>
      </p:sp>
    </p:spTree>
    <p:extLst>
      <p:ext uri="{BB962C8B-B14F-4D97-AF65-F5344CB8AC3E}">
        <p14:creationId xmlns:p14="http://schemas.microsoft.com/office/powerpoint/2010/main" val="1764362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5FB3-9F35-47CE-921A-7496614D2271}"/>
              </a:ext>
            </a:extLst>
          </p:cNvPr>
          <p:cNvSpPr>
            <a:spLocks noGrp="1"/>
          </p:cNvSpPr>
          <p:nvPr>
            <p:ph type="title"/>
          </p:nvPr>
        </p:nvSpPr>
        <p:spPr>
          <a:xfrm>
            <a:off x="2084387" y="1066800"/>
            <a:ext cx="8761413" cy="706964"/>
          </a:xfrm>
        </p:spPr>
        <p:txBody>
          <a:bodyPr/>
          <a:lstStyle/>
          <a:p>
            <a:r>
              <a:rPr lang="en-US" sz="3600" b="1" dirty="0">
                <a:latin typeface="Copperplate Gothic Bold" panose="020E0705020206020404" pitchFamily="34" charset="0"/>
              </a:rPr>
              <a:t>Chi Square Test Analysis</a:t>
            </a:r>
            <a:endParaRPr lang="en-GB" dirty="0"/>
          </a:p>
        </p:txBody>
      </p:sp>
      <p:sp>
        <p:nvSpPr>
          <p:cNvPr id="4" name="TextBox 3">
            <a:extLst>
              <a:ext uri="{FF2B5EF4-FFF2-40B4-BE49-F238E27FC236}">
                <a16:creationId xmlns:a16="http://schemas.microsoft.com/office/drawing/2014/main" id="{0D2DAD0B-EDEA-4A51-B30F-CBA3ABC7D75D}"/>
              </a:ext>
            </a:extLst>
          </p:cNvPr>
          <p:cNvSpPr txBox="1"/>
          <p:nvPr/>
        </p:nvSpPr>
        <p:spPr>
          <a:xfrm>
            <a:off x="4749800" y="1773764"/>
            <a:ext cx="6096000" cy="369332"/>
          </a:xfrm>
          <a:prstGeom prst="rect">
            <a:avLst/>
          </a:prstGeom>
          <a:noFill/>
        </p:spPr>
        <p:txBody>
          <a:bodyPr wrap="square">
            <a:spAutoFit/>
          </a:bodyPr>
          <a:lstStyle/>
          <a:p>
            <a:r>
              <a:rPr lang="en-US" dirty="0">
                <a:solidFill>
                  <a:schemeClr val="bg1"/>
                </a:solidFill>
                <a:latin typeface="Baskerville Old Face" panose="02020602080505020303" pitchFamily="18" charset="0"/>
              </a:rPr>
              <a:t>Business Model</a:t>
            </a:r>
            <a:endParaRPr lang="en-GB" dirty="0">
              <a:solidFill>
                <a:schemeClr val="bg1"/>
              </a:solidFill>
              <a:latin typeface="Baskerville Old Face" panose="02020602080505020303" pitchFamily="18" charset="0"/>
            </a:endParaRPr>
          </a:p>
        </p:txBody>
      </p:sp>
      <p:sp>
        <p:nvSpPr>
          <p:cNvPr id="5" name="Rectangle 4">
            <a:extLst>
              <a:ext uri="{FF2B5EF4-FFF2-40B4-BE49-F238E27FC236}">
                <a16:creationId xmlns:a16="http://schemas.microsoft.com/office/drawing/2014/main" id="{244D3C41-6C40-4338-AC67-1FBD9139C15E}"/>
              </a:ext>
            </a:extLst>
          </p:cNvPr>
          <p:cNvSpPr/>
          <p:nvPr/>
        </p:nvSpPr>
        <p:spPr>
          <a:xfrm>
            <a:off x="1030287" y="3059668"/>
            <a:ext cx="21082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P-VALUE = 0.033</a:t>
            </a:r>
            <a:endParaRPr lang="en-GB" b="1" dirty="0">
              <a:solidFill>
                <a:schemeClr val="bg1"/>
              </a:solidFill>
            </a:endParaRPr>
          </a:p>
        </p:txBody>
      </p:sp>
      <p:sp>
        <p:nvSpPr>
          <p:cNvPr id="6" name="Rectangle 5">
            <a:extLst>
              <a:ext uri="{FF2B5EF4-FFF2-40B4-BE49-F238E27FC236}">
                <a16:creationId xmlns:a16="http://schemas.microsoft.com/office/drawing/2014/main" id="{5D6711FC-7C7D-440B-8E1E-D821E3842090}"/>
              </a:ext>
            </a:extLst>
          </p:cNvPr>
          <p:cNvSpPr/>
          <p:nvPr/>
        </p:nvSpPr>
        <p:spPr>
          <a:xfrm>
            <a:off x="8866187" y="3059668"/>
            <a:ext cx="21082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P-VALUE = 0.204</a:t>
            </a:r>
            <a:endParaRPr lang="en-GB" b="1" dirty="0">
              <a:solidFill>
                <a:schemeClr val="bg1"/>
              </a:solidFill>
            </a:endParaRPr>
          </a:p>
        </p:txBody>
      </p:sp>
      <p:sp>
        <p:nvSpPr>
          <p:cNvPr id="8" name="TextBox 7">
            <a:extLst>
              <a:ext uri="{FF2B5EF4-FFF2-40B4-BE49-F238E27FC236}">
                <a16:creationId xmlns:a16="http://schemas.microsoft.com/office/drawing/2014/main" id="{BD7342B0-B2BD-4095-A1C0-C414E6B4390B}"/>
              </a:ext>
            </a:extLst>
          </p:cNvPr>
          <p:cNvSpPr txBox="1"/>
          <p:nvPr/>
        </p:nvSpPr>
        <p:spPr>
          <a:xfrm>
            <a:off x="1485900" y="2665394"/>
            <a:ext cx="6096000" cy="369332"/>
          </a:xfrm>
          <a:prstGeom prst="rect">
            <a:avLst/>
          </a:prstGeom>
          <a:noFill/>
        </p:spPr>
        <p:txBody>
          <a:bodyPr wrap="square">
            <a:spAutoFit/>
          </a:bodyPr>
          <a:lstStyle/>
          <a:p>
            <a:r>
              <a:rPr lang="en-US" b="1" dirty="0"/>
              <a:t>AGE</a:t>
            </a:r>
            <a:endParaRPr lang="en-GB" b="1" dirty="0"/>
          </a:p>
        </p:txBody>
      </p:sp>
      <p:sp>
        <p:nvSpPr>
          <p:cNvPr id="9" name="TextBox 8">
            <a:extLst>
              <a:ext uri="{FF2B5EF4-FFF2-40B4-BE49-F238E27FC236}">
                <a16:creationId xmlns:a16="http://schemas.microsoft.com/office/drawing/2014/main" id="{3077814A-7846-4F88-AFD5-4E3DDFA1079C}"/>
              </a:ext>
            </a:extLst>
          </p:cNvPr>
          <p:cNvSpPr txBox="1"/>
          <p:nvPr/>
        </p:nvSpPr>
        <p:spPr>
          <a:xfrm>
            <a:off x="9307513" y="2690336"/>
            <a:ext cx="1854200" cy="369332"/>
          </a:xfrm>
          <a:prstGeom prst="rect">
            <a:avLst/>
          </a:prstGeom>
          <a:noFill/>
        </p:spPr>
        <p:txBody>
          <a:bodyPr wrap="square">
            <a:spAutoFit/>
          </a:bodyPr>
          <a:lstStyle/>
          <a:p>
            <a:r>
              <a:rPr lang="en-US" b="1" dirty="0"/>
              <a:t>GENDER</a:t>
            </a:r>
            <a:endParaRPr lang="en-GB" b="1" dirty="0"/>
          </a:p>
        </p:txBody>
      </p:sp>
      <p:sp>
        <p:nvSpPr>
          <p:cNvPr id="10" name="TextBox 9">
            <a:extLst>
              <a:ext uri="{FF2B5EF4-FFF2-40B4-BE49-F238E27FC236}">
                <a16:creationId xmlns:a16="http://schemas.microsoft.com/office/drawing/2014/main" id="{93AED49C-E774-4F22-892D-A3034B0A57FE}"/>
              </a:ext>
            </a:extLst>
          </p:cNvPr>
          <p:cNvSpPr txBox="1"/>
          <p:nvPr/>
        </p:nvSpPr>
        <p:spPr>
          <a:xfrm>
            <a:off x="114300" y="3823274"/>
            <a:ext cx="5524500" cy="1672253"/>
          </a:xfrm>
          <a:prstGeom prst="rect">
            <a:avLst/>
          </a:prstGeom>
          <a:noFill/>
        </p:spPr>
        <p:txBody>
          <a:bodyPr wrap="square" rtlCol="0">
            <a:spAutoFit/>
          </a:bodyPr>
          <a:lstStyle/>
          <a:p>
            <a:pPr>
              <a:spcAft>
                <a:spcPts val="800"/>
              </a:spcAft>
            </a:pP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relationship b/w the features people would like to experience if we open a </a:t>
            </a:r>
            <a:r>
              <a:rPr lang="en-GB" sz="16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boutique and their Age group</a:t>
            </a:r>
          </a:p>
          <a:p>
            <a:pPr>
              <a:spcAft>
                <a:spcPts val="800"/>
              </a:spcAft>
            </a:pP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Alternative Hypothesis: There is a relationship b/w the features people would like to experience if we open a </a:t>
            </a:r>
            <a:r>
              <a:rPr lang="en-GB" sz="16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boutique and their Age group</a:t>
            </a:r>
          </a:p>
        </p:txBody>
      </p:sp>
      <p:sp>
        <p:nvSpPr>
          <p:cNvPr id="12" name="TextBox 11">
            <a:extLst>
              <a:ext uri="{FF2B5EF4-FFF2-40B4-BE49-F238E27FC236}">
                <a16:creationId xmlns:a16="http://schemas.microsoft.com/office/drawing/2014/main" id="{16D0587B-D27B-4853-80F2-B3F8D87B841E}"/>
              </a:ext>
            </a:extLst>
          </p:cNvPr>
          <p:cNvSpPr txBox="1"/>
          <p:nvPr/>
        </p:nvSpPr>
        <p:spPr>
          <a:xfrm>
            <a:off x="6096000" y="3823275"/>
            <a:ext cx="5981700" cy="1672253"/>
          </a:xfrm>
          <a:prstGeom prst="rect">
            <a:avLst/>
          </a:prstGeom>
          <a:noFill/>
        </p:spPr>
        <p:txBody>
          <a:bodyPr wrap="square">
            <a:spAutoFit/>
          </a:bodyPr>
          <a:lstStyle/>
          <a:p>
            <a:pPr>
              <a:spcAft>
                <a:spcPts val="800"/>
              </a:spcAft>
            </a:pP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relationship b/w the features people would like to experience if we open a </a:t>
            </a:r>
            <a:r>
              <a:rPr lang="en-GB" sz="16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boutique and their gender</a:t>
            </a:r>
          </a:p>
          <a:p>
            <a:pPr>
              <a:spcAft>
                <a:spcPts val="800"/>
              </a:spcAft>
            </a:pP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Alternative Hypothesis: There is a relationship b/w the features people would like to experience if we open a </a:t>
            </a:r>
            <a:r>
              <a:rPr lang="en-GB" sz="1600" kern="100" dirty="0" err="1">
                <a:effectLst/>
                <a:latin typeface="Calibri" panose="020F0502020204030204" pitchFamily="34" charset="0"/>
                <a:ea typeface="Calibri" panose="020F0502020204030204" pitchFamily="34" charset="0"/>
                <a:cs typeface="Times New Roman" panose="02020603050405020304" pitchFamily="18" charset="0"/>
              </a:rPr>
              <a:t>jewelry</a:t>
            </a:r>
            <a:r>
              <a:rPr lang="en-GB" sz="1600" kern="100" dirty="0">
                <a:effectLst/>
                <a:latin typeface="Calibri" panose="020F0502020204030204" pitchFamily="34" charset="0"/>
                <a:ea typeface="Calibri" panose="020F0502020204030204" pitchFamily="34" charset="0"/>
                <a:cs typeface="Times New Roman" panose="02020603050405020304" pitchFamily="18" charset="0"/>
              </a:rPr>
              <a:t> boutique and their </a:t>
            </a:r>
            <a:r>
              <a:rPr lang="en-GB" sz="1600" kern="100" dirty="0">
                <a:latin typeface="Calibri" panose="020F0502020204030204" pitchFamily="34" charset="0"/>
                <a:ea typeface="Calibri" panose="020F0502020204030204" pitchFamily="34" charset="0"/>
                <a:cs typeface="Times New Roman" panose="02020603050405020304" pitchFamily="18" charset="0"/>
              </a:rPr>
              <a:t>gender</a:t>
            </a:r>
            <a:endParaRPr lang="en-GB"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5ABE8395-9CCD-4C46-B07C-E50305C4EBEC}"/>
              </a:ext>
            </a:extLst>
          </p:cNvPr>
          <p:cNvSpPr txBox="1"/>
          <p:nvPr/>
        </p:nvSpPr>
        <p:spPr>
          <a:xfrm>
            <a:off x="4609882" y="5495527"/>
            <a:ext cx="2057835" cy="369332"/>
          </a:xfrm>
          <a:prstGeom prst="rect">
            <a:avLst/>
          </a:prstGeom>
          <a:noFill/>
        </p:spPr>
        <p:txBody>
          <a:bodyPr wrap="square" rtlCol="0">
            <a:spAutoFit/>
          </a:bodyPr>
          <a:lstStyle/>
          <a:p>
            <a:pPr algn="ctr"/>
            <a:r>
              <a:rPr lang="en-US" b="1" dirty="0"/>
              <a:t>RESULT</a:t>
            </a:r>
            <a:endParaRPr lang="en-GB" b="1" dirty="0"/>
          </a:p>
        </p:txBody>
      </p:sp>
      <p:sp>
        <p:nvSpPr>
          <p:cNvPr id="15" name="TextBox 14">
            <a:extLst>
              <a:ext uri="{FF2B5EF4-FFF2-40B4-BE49-F238E27FC236}">
                <a16:creationId xmlns:a16="http://schemas.microsoft.com/office/drawing/2014/main" id="{B25EB1D2-FF1C-4FB3-BF9A-8E88E5967C57}"/>
              </a:ext>
            </a:extLst>
          </p:cNvPr>
          <p:cNvSpPr txBox="1"/>
          <p:nvPr/>
        </p:nvSpPr>
        <p:spPr>
          <a:xfrm>
            <a:off x="590550" y="5960909"/>
            <a:ext cx="11010900" cy="646331"/>
          </a:xfrm>
          <a:prstGeom prst="rect">
            <a:avLst/>
          </a:prstGeom>
          <a:noFill/>
        </p:spPr>
        <p:txBody>
          <a:bodyPr wrap="square">
            <a:spAutoFit/>
          </a:bodyPr>
          <a:lstStyle/>
          <a:p>
            <a:r>
              <a:rPr lang="en-US" dirty="0"/>
              <a:t>Following the above test, it appears that the features respondents would like to experience is influenced by their age (24-34), but is not influenced by their gender.</a:t>
            </a:r>
            <a:endParaRPr lang="en-GB" dirty="0"/>
          </a:p>
        </p:txBody>
      </p:sp>
    </p:spTree>
    <p:extLst>
      <p:ext uri="{BB962C8B-B14F-4D97-AF65-F5344CB8AC3E}">
        <p14:creationId xmlns:p14="http://schemas.microsoft.com/office/powerpoint/2010/main" val="3438656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62DA-59CE-46E5-B7E2-28981D0450E8}"/>
              </a:ext>
            </a:extLst>
          </p:cNvPr>
          <p:cNvSpPr>
            <a:spLocks noGrp="1"/>
          </p:cNvSpPr>
          <p:nvPr>
            <p:ph type="title"/>
          </p:nvPr>
        </p:nvSpPr>
        <p:spPr/>
        <p:txBody>
          <a:bodyPr/>
          <a:lstStyle/>
          <a:p>
            <a:pPr algn="ctr"/>
            <a:r>
              <a:rPr lang="en-US" dirty="0">
                <a:latin typeface="Copperplate Gothic Bold" panose="020E0705020206020404" pitchFamily="34" charset="0"/>
              </a:rPr>
              <a:t>REPORT</a:t>
            </a:r>
            <a:endParaRPr lang="en-GB" dirty="0"/>
          </a:p>
        </p:txBody>
      </p:sp>
      <p:sp>
        <p:nvSpPr>
          <p:cNvPr id="4" name="TextBox 3">
            <a:extLst>
              <a:ext uri="{FF2B5EF4-FFF2-40B4-BE49-F238E27FC236}">
                <a16:creationId xmlns:a16="http://schemas.microsoft.com/office/drawing/2014/main" id="{B8D23EA2-FB3D-4984-9A09-0A27F6C6CE06}"/>
              </a:ext>
            </a:extLst>
          </p:cNvPr>
          <p:cNvSpPr txBox="1"/>
          <p:nvPr/>
        </p:nvSpPr>
        <p:spPr>
          <a:xfrm>
            <a:off x="4724400" y="1680632"/>
            <a:ext cx="6096000" cy="369332"/>
          </a:xfrm>
          <a:prstGeom prst="rect">
            <a:avLst/>
          </a:prstGeom>
          <a:noFill/>
        </p:spPr>
        <p:txBody>
          <a:bodyPr wrap="square">
            <a:spAutoFit/>
          </a:bodyPr>
          <a:lstStyle/>
          <a:p>
            <a:r>
              <a:rPr lang="en-US" dirty="0">
                <a:solidFill>
                  <a:schemeClr val="bg1"/>
                </a:solidFill>
                <a:latin typeface="Baskerville Old Face" panose="02020602080505020303" pitchFamily="18" charset="0"/>
              </a:rPr>
              <a:t>Business Model</a:t>
            </a:r>
            <a:endParaRPr lang="en-GB" dirty="0">
              <a:solidFill>
                <a:schemeClr val="bg1"/>
              </a:solidFill>
              <a:latin typeface="Baskerville Old Face" panose="02020602080505020303" pitchFamily="18" charset="0"/>
            </a:endParaRPr>
          </a:p>
        </p:txBody>
      </p:sp>
      <p:sp>
        <p:nvSpPr>
          <p:cNvPr id="6" name="TextBox 5">
            <a:extLst>
              <a:ext uri="{FF2B5EF4-FFF2-40B4-BE49-F238E27FC236}">
                <a16:creationId xmlns:a16="http://schemas.microsoft.com/office/drawing/2014/main" id="{236DF25F-66CA-4366-98A6-19020B7F730F}"/>
              </a:ext>
            </a:extLst>
          </p:cNvPr>
          <p:cNvSpPr txBox="1"/>
          <p:nvPr/>
        </p:nvSpPr>
        <p:spPr>
          <a:xfrm>
            <a:off x="4851400" y="2429187"/>
            <a:ext cx="6096000" cy="369332"/>
          </a:xfrm>
          <a:prstGeom prst="rect">
            <a:avLst/>
          </a:prstGeom>
          <a:noFill/>
        </p:spPr>
        <p:txBody>
          <a:bodyPr wrap="square">
            <a:spAutoFit/>
          </a:bodyPr>
          <a:lstStyle/>
          <a:p>
            <a:r>
              <a:rPr lang="en-US" sz="1800" b="1" dirty="0"/>
              <a:t>Interest Level</a:t>
            </a:r>
            <a:endParaRPr lang="en-GB" dirty="0"/>
          </a:p>
        </p:txBody>
      </p:sp>
      <p:sp>
        <p:nvSpPr>
          <p:cNvPr id="8" name="Rectangle 7">
            <a:extLst>
              <a:ext uri="{FF2B5EF4-FFF2-40B4-BE49-F238E27FC236}">
                <a16:creationId xmlns:a16="http://schemas.microsoft.com/office/drawing/2014/main" id="{7D41F2D3-6B91-415C-96D7-6B688E5AB827}"/>
              </a:ext>
            </a:extLst>
          </p:cNvPr>
          <p:cNvSpPr/>
          <p:nvPr/>
        </p:nvSpPr>
        <p:spPr>
          <a:xfrm>
            <a:off x="4775200" y="3477740"/>
            <a:ext cx="2209800" cy="426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P-VALUE = 0.371</a:t>
            </a:r>
            <a:endParaRPr lang="en-GB" b="1" dirty="0">
              <a:solidFill>
                <a:schemeClr val="bg1"/>
              </a:solidFill>
            </a:endParaRPr>
          </a:p>
        </p:txBody>
      </p:sp>
      <p:sp>
        <p:nvSpPr>
          <p:cNvPr id="10" name="TextBox 9">
            <a:extLst>
              <a:ext uri="{FF2B5EF4-FFF2-40B4-BE49-F238E27FC236}">
                <a16:creationId xmlns:a16="http://schemas.microsoft.com/office/drawing/2014/main" id="{6CACE0F7-D4AD-4912-B3AA-EC54B5B883B7}"/>
              </a:ext>
            </a:extLst>
          </p:cNvPr>
          <p:cNvSpPr txBox="1"/>
          <p:nvPr/>
        </p:nvSpPr>
        <p:spPr>
          <a:xfrm>
            <a:off x="0" y="3986190"/>
            <a:ext cx="6096000" cy="671915"/>
          </a:xfrm>
          <a:prstGeom prst="rect">
            <a:avLst/>
          </a:prstGeom>
          <a:noFill/>
        </p:spPr>
        <p:txBody>
          <a:bodyPr wrap="square">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Null Hypothesis: There is no significant difference in interest between male and female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EF78A3AD-3D57-4AD0-8F8B-FA312AF823C2}"/>
              </a:ext>
            </a:extLst>
          </p:cNvPr>
          <p:cNvSpPr txBox="1"/>
          <p:nvPr/>
        </p:nvSpPr>
        <p:spPr>
          <a:xfrm>
            <a:off x="2794000" y="4808036"/>
            <a:ext cx="6121400" cy="369332"/>
          </a:xfrm>
          <a:prstGeom prst="rect">
            <a:avLst/>
          </a:prstGeom>
          <a:noFill/>
        </p:spPr>
        <p:txBody>
          <a:bodyPr wrap="square">
            <a:spAutoFit/>
          </a:bodyPr>
          <a:lstStyle/>
          <a:p>
            <a:pPr algn="ctr"/>
            <a:r>
              <a:rPr lang="en-US" b="1" dirty="0"/>
              <a:t>RESULT</a:t>
            </a:r>
            <a:endParaRPr lang="en-GB" b="1" dirty="0"/>
          </a:p>
        </p:txBody>
      </p:sp>
      <p:sp>
        <p:nvSpPr>
          <p:cNvPr id="14" name="TextBox 13">
            <a:extLst>
              <a:ext uri="{FF2B5EF4-FFF2-40B4-BE49-F238E27FC236}">
                <a16:creationId xmlns:a16="http://schemas.microsoft.com/office/drawing/2014/main" id="{63532CAB-9073-4EFB-9BF8-5B3184A6A623}"/>
              </a:ext>
            </a:extLst>
          </p:cNvPr>
          <p:cNvSpPr txBox="1"/>
          <p:nvPr/>
        </p:nvSpPr>
        <p:spPr>
          <a:xfrm>
            <a:off x="6197600" y="3916407"/>
            <a:ext cx="6121400" cy="671915"/>
          </a:xfrm>
          <a:prstGeom prst="rect">
            <a:avLst/>
          </a:prstGeom>
          <a:noFill/>
        </p:spPr>
        <p:txBody>
          <a:bodyPr wrap="square">
            <a:spAutoFit/>
          </a:bodyPr>
          <a:lstStyle/>
          <a:p>
            <a:pPr>
              <a:lnSpc>
                <a:spcPct val="107000"/>
              </a:lnSpc>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Alternative Hypothesis: There is a significant difference in interest between male and female</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83FE24E6-3412-47D7-AD9E-FA238E9E833F}"/>
              </a:ext>
            </a:extLst>
          </p:cNvPr>
          <p:cNvSpPr txBox="1"/>
          <p:nvPr/>
        </p:nvSpPr>
        <p:spPr>
          <a:xfrm>
            <a:off x="463550" y="5561407"/>
            <a:ext cx="11010900" cy="923330"/>
          </a:xfrm>
          <a:prstGeom prst="rect">
            <a:avLst/>
          </a:prstGeom>
          <a:noFill/>
        </p:spPr>
        <p:txBody>
          <a:bodyPr wrap="square">
            <a:spAutoFit/>
          </a:bodyPr>
          <a:lstStyle/>
          <a:p>
            <a:r>
              <a:rPr lang="en-US" dirty="0"/>
              <a:t>Following the above test, it appears that the interest of the respondents to visit a new jewelry boutique is not influenced by their gender, both gender have equal interest to visit a new jewelry boutique in </a:t>
            </a:r>
            <a:r>
              <a:rPr lang="en-US" dirty="0" err="1"/>
              <a:t>wuse</a:t>
            </a:r>
            <a:r>
              <a:rPr lang="en-US" dirty="0"/>
              <a:t>, Abuja.</a:t>
            </a:r>
            <a:endParaRPr lang="en-GB" dirty="0"/>
          </a:p>
        </p:txBody>
      </p:sp>
      <p:sp>
        <p:nvSpPr>
          <p:cNvPr id="17" name="TextBox 16">
            <a:extLst>
              <a:ext uri="{FF2B5EF4-FFF2-40B4-BE49-F238E27FC236}">
                <a16:creationId xmlns:a16="http://schemas.microsoft.com/office/drawing/2014/main" id="{21D910B6-5290-4A02-8F94-6E3AB51CD2AB}"/>
              </a:ext>
            </a:extLst>
          </p:cNvPr>
          <p:cNvSpPr txBox="1"/>
          <p:nvPr/>
        </p:nvSpPr>
        <p:spPr>
          <a:xfrm>
            <a:off x="1623266" y="2936464"/>
            <a:ext cx="9349533" cy="338554"/>
          </a:xfrm>
          <a:prstGeom prst="rect">
            <a:avLst/>
          </a:prstGeom>
          <a:noFill/>
        </p:spPr>
        <p:txBody>
          <a:bodyPr wrap="square">
            <a:spAutoFit/>
          </a:bodyPr>
          <a:lstStyle/>
          <a:p>
            <a:r>
              <a:rPr lang="en-US" sz="1600" b="1" dirty="0">
                <a:latin typeface="Bookman Old Style" panose="02050604050505020204" pitchFamily="18" charset="0"/>
                <a:cs typeface="MV Boli" panose="02000500030200090000" pitchFamily="2" charset="0"/>
              </a:rPr>
              <a:t>The average interest level is 4 which shows that the respondents are interested</a:t>
            </a:r>
            <a:r>
              <a:rPr lang="en-US" sz="1600" b="1" dirty="0">
                <a:latin typeface="Bookman Old Style" panose="02050604050505020204" pitchFamily="18" charset="0"/>
              </a:rPr>
              <a:t> </a:t>
            </a:r>
          </a:p>
        </p:txBody>
      </p:sp>
    </p:spTree>
    <p:extLst>
      <p:ext uri="{BB962C8B-B14F-4D97-AF65-F5344CB8AC3E}">
        <p14:creationId xmlns:p14="http://schemas.microsoft.com/office/powerpoint/2010/main" val="15154384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2405</TotalTime>
  <Words>1520</Words>
  <Application>Microsoft Office PowerPoint</Application>
  <PresentationFormat>Widescreen</PresentationFormat>
  <Paragraphs>216</Paragraphs>
  <Slides>25</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25</vt:i4>
      </vt:variant>
    </vt:vector>
  </HeadingPairs>
  <TitlesOfParts>
    <vt:vector size="43" baseType="lpstr">
      <vt:lpstr>Agency FB</vt:lpstr>
      <vt:lpstr>Arial</vt:lpstr>
      <vt:lpstr>Arial Black</vt:lpstr>
      <vt:lpstr>Arial Rounded MT Bold</vt:lpstr>
      <vt:lpstr>Baskerville Old Face</vt:lpstr>
      <vt:lpstr>Berlin Sans FB Demi</vt:lpstr>
      <vt:lpstr>Bookman Old Style</vt:lpstr>
      <vt:lpstr>Britannic Bold</vt:lpstr>
      <vt:lpstr>Calibri</vt:lpstr>
      <vt:lpstr>Century Gothic</vt:lpstr>
      <vt:lpstr>Constantia</vt:lpstr>
      <vt:lpstr>Copperplate Gothic Bold</vt:lpstr>
      <vt:lpstr>Lucida Fax</vt:lpstr>
      <vt:lpstr>Symbol</vt:lpstr>
      <vt:lpstr>Times New Roman</vt:lpstr>
      <vt:lpstr>Wingdings</vt:lpstr>
      <vt:lpstr>Wingdings 3</vt:lpstr>
      <vt:lpstr>Ion Boardroom</vt:lpstr>
      <vt:lpstr>RESEARCH SURVEY</vt:lpstr>
      <vt:lpstr> Research Objective</vt:lpstr>
      <vt:lpstr>Research Questions </vt:lpstr>
      <vt:lpstr>Designing the Questionnaire</vt:lpstr>
      <vt:lpstr>Consent Question </vt:lpstr>
      <vt:lpstr>Section 1: General Information (Demographic Details) </vt:lpstr>
      <vt:lpstr>Section 2; Market Demand Objective: To determine if there is demand for a jewelry boutique in wuse </vt:lpstr>
      <vt:lpstr>Section 3:  customer preference &amp; price strategy</vt:lpstr>
      <vt:lpstr>Section 5: Business model preferences</vt:lpstr>
      <vt:lpstr>Section 5: Business model preferences</vt:lpstr>
      <vt:lpstr>PowerPoint Presentation</vt:lpstr>
      <vt:lpstr>ANALYSIS REPORT FOR MARKET SURVEY</vt:lpstr>
      <vt:lpstr>INTRODUCTION</vt:lpstr>
      <vt:lpstr>Objective</vt:lpstr>
      <vt:lpstr>PowerPoint Presentation</vt:lpstr>
      <vt:lpstr>RESULT</vt:lpstr>
      <vt:lpstr>REPORT</vt:lpstr>
      <vt:lpstr>Chi Square Test Analysis</vt:lpstr>
      <vt:lpstr>REPORT</vt:lpstr>
      <vt:lpstr>PowerPoint Presentation</vt:lpstr>
      <vt:lpstr>Chi Square Test Analysis</vt:lpstr>
      <vt:lpstr>REPORT</vt:lpstr>
      <vt:lpstr>REPORT</vt:lpstr>
      <vt:lpstr>Chi Square Test Analysis</vt:lpstr>
      <vt:lpstr>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 FOLIO 9470M</dc:creator>
  <cp:lastModifiedBy>samuel Emmanuel</cp:lastModifiedBy>
  <cp:revision>92</cp:revision>
  <dcterms:created xsi:type="dcterms:W3CDTF">2025-03-06T19:13:50Z</dcterms:created>
  <dcterms:modified xsi:type="dcterms:W3CDTF">2026-03-21T15:34:58Z</dcterms:modified>
</cp:coreProperties>
</file>